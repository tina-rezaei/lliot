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86" r:id="rId3"/>
    <p:sldId id="258" r:id="rId4"/>
    <p:sldId id="276" r:id="rId5"/>
    <p:sldId id="297" r:id="rId6"/>
    <p:sldId id="298" r:id="rId7"/>
    <p:sldId id="271" r:id="rId8"/>
    <p:sldId id="282" r:id="rId9"/>
    <p:sldId id="259" r:id="rId10"/>
    <p:sldId id="274" r:id="rId11"/>
    <p:sldId id="302" r:id="rId12"/>
    <p:sldId id="287" r:id="rId13"/>
    <p:sldId id="273" r:id="rId14"/>
    <p:sldId id="272" r:id="rId15"/>
    <p:sldId id="280" r:id="rId16"/>
    <p:sldId id="279" r:id="rId17"/>
    <p:sldId id="292" r:id="rId18"/>
    <p:sldId id="269" r:id="rId19"/>
    <p:sldId id="270" r:id="rId20"/>
    <p:sldId id="275" r:id="rId21"/>
    <p:sldId id="296" r:id="rId22"/>
    <p:sldId id="268" r:id="rId23"/>
    <p:sldId id="266" r:id="rId24"/>
    <p:sldId id="261" r:id="rId25"/>
    <p:sldId id="267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2F8"/>
    <a:srgbClr val="F5B3B3"/>
    <a:srgbClr val="D44646"/>
    <a:srgbClr val="F77314"/>
    <a:srgbClr val="F56F0F"/>
    <a:srgbClr val="028090"/>
    <a:srgbClr val="BF2D00"/>
    <a:srgbClr val="E6F5F0"/>
    <a:srgbClr val="00B0F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5DF96-F354-B72D-2A0E-C2EE12779940}" v="57" dt="2026-10-04T12:49:00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02B7-504D-422D-8F1F-36820C642CAB}" type="datetimeFigureOut"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248DE-6F8C-4F1E-A0FE-6DEBB3CD75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7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51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SoK</a:t>
            </a:r>
            <a:r>
              <a:rPr lang="en-US"/>
              <a:t>: Understanding the State of IoT-specific Vulnerabilities via CVE Characterization with </a:t>
            </a:r>
            <a:r>
              <a:rPr lang="en-US" err="1"/>
              <a:t>LLIoT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99706"/>
            <a:ext cx="9144000" cy="165576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Tina Rezaei</a:t>
            </a:r>
          </a:p>
          <a:p>
            <a:r>
              <a:rPr lang="en-US"/>
              <a:t>Suzan Bayhan</a:t>
            </a:r>
          </a:p>
          <a:p>
            <a:r>
              <a:rPr lang="en-US"/>
              <a:t>Andrea </a:t>
            </a:r>
            <a:r>
              <a:rPr lang="en-US" err="1"/>
              <a:t>Continella</a:t>
            </a:r>
          </a:p>
          <a:p>
            <a:pPr>
              <a:lnSpc>
                <a:spcPct val="80000"/>
              </a:lnSpc>
            </a:pPr>
            <a:r>
              <a:rPr lang="en-US"/>
              <a:t>Jeroen van der Ham-de Vos</a:t>
            </a:r>
          </a:p>
          <a:p>
            <a:pPr>
              <a:lnSpc>
                <a:spcPct val="80000"/>
              </a:lnSpc>
            </a:pPr>
            <a:r>
              <a:rPr lang="en-US"/>
              <a:t>Roland van </a:t>
            </a:r>
            <a:r>
              <a:rPr lang="en-US" err="1"/>
              <a:t>RijsWijk-Deij</a:t>
            </a:r>
          </a:p>
          <a:p>
            <a:pPr>
              <a:lnSpc>
                <a:spcPct val="80000"/>
              </a:lnSpc>
            </a:pPr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73588-9F41-8F7E-CFD1-403BB08A5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5795962"/>
            <a:ext cx="22860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A28B-C0D1-F26B-3401-0EAB4B07D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E3C7B-7C44-ADD0-261B-6807A1AD2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05440" cy="207549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IoT attacks usually use known vulnerabilities for exploitation.</a:t>
            </a:r>
          </a:p>
          <a:p>
            <a:pPr lvl="1"/>
            <a:r>
              <a:rPr lang="en-US" sz="1600" dirty="0"/>
              <a:t>A 2019 study (Feng et al., CCS): </a:t>
            </a:r>
            <a:r>
              <a:rPr lang="en-US" sz="1600" b="1" dirty="0">
                <a:solidFill>
                  <a:srgbClr val="D44646"/>
                </a:solidFill>
              </a:rPr>
              <a:t>96%</a:t>
            </a:r>
            <a:r>
              <a:rPr lang="en-US" sz="1600" dirty="0"/>
              <a:t> of attack scripts captured by IoT honeypots matched </a:t>
            </a:r>
            <a:r>
              <a:rPr lang="en-US" sz="1600" b="1" dirty="0">
                <a:solidFill>
                  <a:srgbClr val="D44646"/>
                </a:solidFill>
              </a:rPr>
              <a:t>publicly available vulnerability</a:t>
            </a:r>
            <a:r>
              <a:rPr lang="en-US" sz="1600" dirty="0"/>
              <a:t> reports.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endParaRPr lang="en-US" sz="16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Known IoT vulnerabilities can inform improved or targeted mitigation.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b="1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75590-BCCF-5913-D252-2EBA45DE7CE3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835D8-4F24-A332-F4E3-B0AFC3C59C70}"/>
              </a:ext>
            </a:extLst>
          </p:cNvPr>
          <p:cNvSpPr txBox="1"/>
          <p:nvPr/>
        </p:nvSpPr>
        <p:spPr>
          <a:xfrm>
            <a:off x="406400" y="6215145"/>
            <a:ext cx="10944624" cy="7465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200" b="0" i="0" u="none" strike="noStrike" dirty="0">
                <a:solidFill>
                  <a:srgbClr val="3A2A10"/>
                </a:solidFill>
                <a:latin typeface="IBM Plex Mono"/>
              </a:rPr>
              <a:t>Feng et al., “Understanding and securing device vulnerabilities through automated bug report analysis”, USENIX Security</a:t>
            </a:r>
            <a:r>
              <a:rPr lang="en-US" sz="1200" dirty="0">
                <a:solidFill>
                  <a:srgbClr val="3A2A10"/>
                </a:solidFill>
                <a:latin typeface="IBM Plex Mono"/>
              </a:rPr>
              <a:t>,</a:t>
            </a:r>
            <a:r>
              <a:rPr lang="en-US" sz="1200" b="0" i="0" u="none" strike="noStrike" dirty="0">
                <a:solidFill>
                  <a:srgbClr val="3A2A10"/>
                </a:solidFill>
                <a:latin typeface="IBM Plex Mono"/>
              </a:rPr>
              <a:t> </a:t>
            </a:r>
            <a:r>
              <a:rPr lang="en-US" sz="1200" dirty="0">
                <a:solidFill>
                  <a:srgbClr val="3A2A10"/>
                </a:solidFill>
                <a:latin typeface="IBM Plex Mono"/>
              </a:rPr>
              <a:t>2019</a:t>
            </a:r>
            <a:r>
              <a:rPr lang="en-US" sz="1200" b="0" i="0" dirty="0">
                <a:latin typeface="IBM Plex Mono"/>
              </a:rPr>
              <a:t>​</a:t>
            </a:r>
          </a:p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1D7C3F-BD5D-79DE-9B4F-58633E4015D3}"/>
              </a:ext>
            </a:extLst>
          </p:cNvPr>
          <p:cNvCxnSpPr/>
          <p:nvPr/>
        </p:nvCxnSpPr>
        <p:spPr>
          <a:xfrm>
            <a:off x="497840" y="6167120"/>
            <a:ext cx="4978400" cy="101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6E664B-E655-62DE-443F-C53A04C3727C}"/>
              </a:ext>
            </a:extLst>
          </p:cNvPr>
          <p:cNvSpPr txBox="1"/>
          <p:nvPr/>
        </p:nvSpPr>
        <p:spPr>
          <a:xfrm>
            <a:off x="863600" y="4384040"/>
            <a:ext cx="1049528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1" i="0" u="none" strike="noStrike" baseline="0">
                <a:solidFill>
                  <a:srgbClr val="000000"/>
                </a:solidFill>
                <a:latin typeface="Aptos"/>
              </a:rPr>
              <a:t>Problem</a:t>
            </a:r>
            <a:r>
              <a:rPr lang="en-US" sz="2400" b="0" i="0">
                <a:latin typeface="Aptos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NVD is the most reach source of vulnerabilities since 1999, but no metadata about IoT. </a:t>
            </a:r>
            <a:r>
              <a:rPr lang="en-US" sz="2000" b="0" i="0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Hard to find IoT CVEs among hundreds of thousands of records.</a:t>
            </a:r>
            <a:r>
              <a:rPr lang="en-US" sz="2000" b="0" i="0">
                <a:latin typeface="Aptos"/>
                <a:ea typeface="Arial"/>
                <a:cs typeface="Arial"/>
              </a:rPr>
              <a:t>​</a:t>
            </a:r>
          </a:p>
          <a:p>
            <a:endParaRPr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4044-6317-2CB4-5386-FA36AB9E2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121" y="-303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What prior work has done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7CC7E-F88A-37AE-C390-FB3597851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50" y="1229040"/>
            <a:ext cx="11661686" cy="51268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IoT CVE distinction </a:t>
            </a:r>
            <a:endParaRPr lang="en-US" dirty="0"/>
          </a:p>
          <a:p>
            <a:pPr lvl="1"/>
            <a:r>
              <a:rPr lang="en-US" sz="1900" dirty="0">
                <a:ea typeface="+mn-lt"/>
                <a:cs typeface="+mn-lt"/>
              </a:rPr>
              <a:t>Reliance on weak heuristics such as keyword filtering or metadata (e.g., CPE) followed by human review </a:t>
            </a:r>
          </a:p>
          <a:p>
            <a:pPr lvl="2"/>
            <a:r>
              <a:rPr lang="en-US" sz="1500" dirty="0">
                <a:ea typeface="+mn-lt"/>
                <a:cs typeface="+mn-lt"/>
              </a:rPr>
              <a:t>high false positives &amp; low coverage</a:t>
            </a:r>
            <a:endParaRPr lang="en-US" sz="1900" dirty="0">
              <a:ea typeface="+mn-lt"/>
              <a:cs typeface="+mn-lt"/>
            </a:endParaRPr>
          </a:p>
          <a:p>
            <a:pPr lvl="2"/>
            <a:r>
              <a:rPr lang="en-US" sz="1500" dirty="0">
                <a:ea typeface="+mn-lt"/>
                <a:cs typeface="+mn-lt"/>
              </a:rPr>
              <a:t>limited scalability.</a:t>
            </a:r>
            <a:endParaRPr lang="en-US" sz="1900" dirty="0"/>
          </a:p>
          <a:p>
            <a:pPr lvl="1"/>
            <a:endParaRPr lang="en-US" sz="1900">
              <a:ea typeface="+mn-lt"/>
              <a:cs typeface="+mn-lt"/>
            </a:endParaRPr>
          </a:p>
          <a:p>
            <a:pPr lvl="1"/>
            <a:r>
              <a:rPr lang="en-US" sz="1900" dirty="0">
                <a:ea typeface="+mn-lt"/>
                <a:cs typeface="+mn-lt"/>
              </a:rPr>
              <a:t>Underspecified IoT definitions.</a:t>
            </a:r>
          </a:p>
          <a:p>
            <a:pPr lvl="2"/>
            <a:endParaRPr lang="en-US" sz="2200" dirty="0">
              <a:ea typeface="+mn-lt"/>
              <a:cs typeface="+mn-lt"/>
            </a:endParaRPr>
          </a:p>
          <a:p>
            <a:pPr lvl="2"/>
            <a:endParaRPr lang="en-US" sz="2200" dirty="0"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IoT taxonomy</a:t>
            </a:r>
          </a:p>
          <a:p>
            <a:pPr lvl="1"/>
            <a:r>
              <a:rPr lang="en-US" sz="1900" dirty="0">
                <a:ea typeface="+mn-lt"/>
                <a:cs typeface="+mn-lt"/>
              </a:rPr>
              <a:t>Prior IoT taxonomies vary in granularity and perspective</a:t>
            </a:r>
          </a:p>
          <a:p>
            <a:pPr marL="0" indent="0">
              <a:buNone/>
            </a:pPr>
            <a:endParaRPr lang="en-US" sz="2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1D8D3-5B02-3B85-AF6B-DF95196C66AA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06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619AD34-3326-B8D8-B305-D32CAC47E9E3}"/>
              </a:ext>
            </a:extLst>
          </p:cNvPr>
          <p:cNvSpPr/>
          <p:nvPr/>
        </p:nvSpPr>
        <p:spPr>
          <a:xfrm>
            <a:off x="505145" y="2162709"/>
            <a:ext cx="3424719" cy="3578831"/>
          </a:xfrm>
          <a:prstGeom prst="rect">
            <a:avLst/>
          </a:prstGeom>
          <a:noFill/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094986-A179-D6AD-F4B9-5A4ED467AF55}"/>
              </a:ext>
            </a:extLst>
          </p:cNvPr>
          <p:cNvSpPr/>
          <p:nvPr/>
        </p:nvSpPr>
        <p:spPr>
          <a:xfrm>
            <a:off x="518264" y="2154816"/>
            <a:ext cx="3398644" cy="337798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57E68-69AF-8343-5D6D-6333575ED0AA}"/>
              </a:ext>
            </a:extLst>
          </p:cNvPr>
          <p:cNvSpPr txBox="1"/>
          <p:nvPr/>
        </p:nvSpPr>
        <p:spPr>
          <a:xfrm>
            <a:off x="613805" y="2158200"/>
            <a:ext cx="331600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Phase 1: Ground-truth &amp; validation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92D18A-791D-9503-6C01-B4E42DEC974D}"/>
              </a:ext>
            </a:extLst>
          </p:cNvPr>
          <p:cNvSpPr txBox="1"/>
          <p:nvPr/>
        </p:nvSpPr>
        <p:spPr>
          <a:xfrm>
            <a:off x="610608" y="2688066"/>
            <a:ext cx="322979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Define IoT taxonomy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Create keyword dictionaries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Filter CVEs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Manual review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Validate LLMs and human</a:t>
            </a:r>
          </a:p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32E82-83C1-1A35-A3DF-C1CDC8ECB792}"/>
              </a:ext>
            </a:extLst>
          </p:cNvPr>
          <p:cNvSpPr txBox="1"/>
          <p:nvPr/>
        </p:nvSpPr>
        <p:spPr>
          <a:xfrm>
            <a:off x="532143" y="1432778"/>
            <a:ext cx="95900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LLIoT</a:t>
            </a:r>
            <a:r>
              <a:rPr lang="en-US"/>
              <a:t>: An LLM-assisted approach to systematically distinguish IoT CVEs at large scale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C264CC1-FCA4-15A0-867B-C4CE3118394E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we do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1EF537-1699-612F-0A3D-E5BAFEC3D7D7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027CFE-3655-9A0B-A459-F61908AC58A7}"/>
              </a:ext>
            </a:extLst>
          </p:cNvPr>
          <p:cNvSpPr/>
          <p:nvPr/>
        </p:nvSpPr>
        <p:spPr>
          <a:xfrm>
            <a:off x="4320322" y="2153970"/>
            <a:ext cx="3370422" cy="366020"/>
          </a:xfrm>
          <a:prstGeom prst="rect">
            <a:avLst/>
          </a:prstGeom>
          <a:solidFill>
            <a:srgbClr val="D4464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68FCC-35FB-0A6E-A10A-782191EBA62D}"/>
              </a:ext>
            </a:extLst>
          </p:cNvPr>
          <p:cNvSpPr txBox="1"/>
          <p:nvPr/>
        </p:nvSpPr>
        <p:spPr>
          <a:xfrm>
            <a:off x="4384273" y="2157921"/>
            <a:ext cx="3302366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Phase 2: Large scale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D780A-C9DD-C9B8-9442-F70218D1653E}"/>
              </a:ext>
            </a:extLst>
          </p:cNvPr>
          <p:cNvSpPr txBox="1"/>
          <p:nvPr/>
        </p:nvSpPr>
        <p:spPr>
          <a:xfrm>
            <a:off x="4507418" y="2688065"/>
            <a:ext cx="322979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Apply best-performing LLM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Classify all 225k CVEs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Consistency analysis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Comparison with prior datasets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Manual verification</a:t>
            </a:r>
          </a:p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30B407-28C4-D7A5-47E5-EC35B6E92C1D}"/>
              </a:ext>
            </a:extLst>
          </p:cNvPr>
          <p:cNvSpPr/>
          <p:nvPr/>
        </p:nvSpPr>
        <p:spPr>
          <a:xfrm>
            <a:off x="4323706" y="2162708"/>
            <a:ext cx="3364787" cy="3561708"/>
          </a:xfrm>
          <a:prstGeom prst="rect">
            <a:avLst/>
          </a:prstGeom>
          <a:noFill/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1E494-7A26-2DD7-8822-803FF2B0BC9F}"/>
              </a:ext>
            </a:extLst>
          </p:cNvPr>
          <p:cNvSpPr/>
          <p:nvPr/>
        </p:nvSpPr>
        <p:spPr>
          <a:xfrm>
            <a:off x="8064089" y="2164937"/>
            <a:ext cx="3362535" cy="337799"/>
          </a:xfrm>
          <a:prstGeom prst="rect">
            <a:avLst/>
          </a:prstGeom>
          <a:solidFill>
            <a:srgbClr val="D4464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0F79AA-A173-3332-C959-F4C6B193ACA7}"/>
              </a:ext>
            </a:extLst>
          </p:cNvPr>
          <p:cNvSpPr txBox="1"/>
          <p:nvPr/>
        </p:nvSpPr>
        <p:spPr>
          <a:xfrm>
            <a:off x="8314092" y="2147303"/>
            <a:ext cx="284742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Phase 3: Characterization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CDFE2-5B57-3946-6C59-05CEFE22E4DB}"/>
              </a:ext>
            </a:extLst>
          </p:cNvPr>
          <p:cNvSpPr txBox="1"/>
          <p:nvPr/>
        </p:nvSpPr>
        <p:spPr>
          <a:xfrm>
            <a:off x="8201671" y="2688066"/>
            <a:ext cx="322979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Temporal trends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Severity analysis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Weakness families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Actionable recommendations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C849C-39F7-A83E-8E72-0DF12657517B}"/>
              </a:ext>
            </a:extLst>
          </p:cNvPr>
          <p:cNvSpPr/>
          <p:nvPr/>
        </p:nvSpPr>
        <p:spPr>
          <a:xfrm>
            <a:off x="8065210" y="2145584"/>
            <a:ext cx="3364788" cy="3595954"/>
          </a:xfrm>
          <a:prstGeom prst="rect">
            <a:avLst/>
          </a:prstGeom>
          <a:noFill/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7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9F58-BF1F-02B8-41E9-7F84C8D15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E3CC71-F333-E1E6-E160-ACDB62DCE6A7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IoT Taxonomy &amp; Classification Rules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3E0BE7-88F8-462A-C1D6-A8DFA42FD381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A6B4213F-8B25-D936-EC02-C9F6B9672D9D}"/>
              </a:ext>
            </a:extLst>
          </p:cNvPr>
          <p:cNvSpPr/>
          <p:nvPr/>
        </p:nvSpPr>
        <p:spPr>
          <a:xfrm>
            <a:off x="3702791" y="2089891"/>
            <a:ext cx="216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Communication</a:t>
            </a:r>
            <a:endParaRPr lang="en-US" sz="150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3B0EFE1-D990-D301-AFDC-5EA85C79A8F2}"/>
              </a:ext>
            </a:extLst>
          </p:cNvPr>
          <p:cNvSpPr/>
          <p:nvPr/>
        </p:nvSpPr>
        <p:spPr>
          <a:xfrm>
            <a:off x="3702791" y="2420091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Low-power protocols and their stacks</a:t>
            </a:r>
            <a:endParaRPr lang="en-US" sz="120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2D0B864-5C96-0C9B-50C9-0C2ECD2741EC}"/>
              </a:ext>
            </a:extLst>
          </p:cNvPr>
          <p:cNvSpPr/>
          <p:nvPr/>
        </p:nvSpPr>
        <p:spPr>
          <a:xfrm>
            <a:off x="3702791" y="2933170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F63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ZigBee, BLE, 6LoWPAN, LoRaWAN, MQTT, CoAP</a:t>
            </a:r>
            <a:endParaRPr lang="en-US" sz="120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58D4357-5A30-1477-F47E-A3C25725E756}"/>
              </a:ext>
            </a:extLst>
          </p:cNvPr>
          <p:cNvSpPr/>
          <p:nvPr/>
        </p:nvSpPr>
        <p:spPr>
          <a:xfrm>
            <a:off x="3702791" y="3446252"/>
            <a:ext cx="216992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C646B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Typical flaws:</a:t>
            </a:r>
            <a:r>
              <a:rPr lang="en-US" sz="1200" dirty="0">
                <a:solidFill>
                  <a:srgbClr val="5C646B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 protocol design, stack bugs</a:t>
            </a:r>
            <a:endParaRPr lang="en-US" sz="1200" dirty="0">
              <a:latin typeface="IBM Plex San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698C29C-9B41-CDDC-1A2F-5F56466F1755}"/>
              </a:ext>
            </a:extLst>
          </p:cNvPr>
          <p:cNvSpPr/>
          <p:nvPr/>
        </p:nvSpPr>
        <p:spPr>
          <a:xfrm>
            <a:off x="6382491" y="2089891"/>
            <a:ext cx="216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</a:t>
            </a:r>
            <a:endParaRPr lang="en-US" sz="15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BF90DB1-88EF-6308-3F01-A7CA82534BF4}"/>
              </a:ext>
            </a:extLst>
          </p:cNvPr>
          <p:cNvSpPr/>
          <p:nvPr/>
        </p:nvSpPr>
        <p:spPr>
          <a:xfrm>
            <a:off x="6382491" y="2420091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Companion apps and orchestration</a:t>
            </a:r>
            <a:endParaRPr lang="en-US" sz="12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7695A1C-8230-D781-99FC-A3080CFF0C55}"/>
              </a:ext>
            </a:extLst>
          </p:cNvPr>
          <p:cNvSpPr/>
          <p:nvPr/>
        </p:nvSpPr>
        <p:spPr>
          <a:xfrm>
            <a:off x="6382491" y="2933170"/>
            <a:ext cx="216992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F63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 Assistant, SmartThings, IFTTT, OpenHAB</a:t>
            </a:r>
            <a:endParaRPr lang="en-US" sz="120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E5DAADB-B0D9-E960-35FA-4066522BDDBA}"/>
              </a:ext>
            </a:extLst>
          </p:cNvPr>
          <p:cNvSpPr/>
          <p:nvPr/>
        </p:nvSpPr>
        <p:spPr>
          <a:xfrm>
            <a:off x="6382491" y="3651991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b="1">
                <a:solidFill>
                  <a:srgbClr val="5C64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flaws:</a:t>
            </a:r>
            <a:r>
              <a:rPr lang="en-US" sz="1200">
                <a:solidFill>
                  <a:srgbClr val="5C64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design and logic flaws</a:t>
            </a:r>
            <a:endParaRPr lang="en-US" sz="12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F09C75A3-CFCE-7AFE-BC50-C9009B3F555C}"/>
              </a:ext>
            </a:extLst>
          </p:cNvPr>
          <p:cNvSpPr/>
          <p:nvPr/>
        </p:nvSpPr>
        <p:spPr>
          <a:xfrm>
            <a:off x="9062191" y="2089891"/>
            <a:ext cx="216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backend</a:t>
            </a:r>
            <a:endParaRPr lang="en-US" sz="150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EC56412F-1690-68EF-F642-84260555327C}"/>
              </a:ext>
            </a:extLst>
          </p:cNvPr>
          <p:cNvSpPr/>
          <p:nvPr/>
        </p:nvSpPr>
        <p:spPr>
          <a:xfrm>
            <a:off x="9062191" y="2420091"/>
            <a:ext cx="2169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IoT-specific cloud endpoints</a:t>
            </a:r>
            <a:endParaRPr lang="en-US" sz="120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B2615AA5-6C59-3A39-4C56-27A114A27CA3}"/>
              </a:ext>
            </a:extLst>
          </p:cNvPr>
          <p:cNvSpPr/>
          <p:nvPr/>
        </p:nvSpPr>
        <p:spPr>
          <a:xfrm>
            <a:off x="9062191" y="2727430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F63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AWS IoT, Azure IoT, Google Cloud IoT</a:t>
            </a:r>
            <a:endParaRPr lang="en-US" sz="120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7AD496F7-BB0E-7682-4B30-6024F7E7085D}"/>
              </a:ext>
            </a:extLst>
          </p:cNvPr>
          <p:cNvSpPr/>
          <p:nvPr/>
        </p:nvSpPr>
        <p:spPr>
          <a:xfrm>
            <a:off x="9062191" y="3240512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b="1">
                <a:solidFill>
                  <a:srgbClr val="5C64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flaws:</a:t>
            </a:r>
            <a:r>
              <a:rPr lang="en-US" sz="1200">
                <a:solidFill>
                  <a:srgbClr val="5C64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misconfig, insecure APIs/tokens</a:t>
            </a:r>
            <a:endParaRPr lang="en-US" sz="120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B7ADCE30-8A55-95DB-1340-C4B02857C955}"/>
              </a:ext>
            </a:extLst>
          </p:cNvPr>
          <p:cNvSpPr/>
          <p:nvPr/>
        </p:nvSpPr>
        <p:spPr>
          <a:xfrm>
            <a:off x="1023091" y="2089891"/>
            <a:ext cx="216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</a:t>
            </a:r>
            <a:endParaRPr lang="en-US" sz="150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286ABE96-9949-CBE2-5AA9-70E50C986676}"/>
              </a:ext>
            </a:extLst>
          </p:cNvPr>
          <p:cNvSpPr/>
          <p:nvPr/>
        </p:nvSpPr>
        <p:spPr>
          <a:xfrm>
            <a:off x="1023091" y="2420091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Constrained hardware, firmware, embedded OS</a:t>
            </a:r>
            <a:endParaRPr lang="en-US" sz="120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B36D67B8-3A7F-47D1-7FCD-2C59A2DC49F2}"/>
              </a:ext>
            </a:extLst>
          </p:cNvPr>
          <p:cNvSpPr/>
          <p:nvPr/>
        </p:nvSpPr>
        <p:spPr>
          <a:xfrm>
            <a:off x="1023091" y="2933170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20"/>
              </a:lnSpc>
            </a:pPr>
            <a:r>
              <a:rPr lang="en-US" sz="1200" dirty="0">
                <a:solidFill>
                  <a:srgbClr val="3F6390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IP camera, thermostat, </a:t>
            </a:r>
            <a:r>
              <a:rPr lang="en-US" sz="1200" dirty="0" err="1">
                <a:solidFill>
                  <a:srgbClr val="3F6390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FreeRTOS</a:t>
            </a:r>
            <a:r>
              <a:rPr lang="en-US" sz="1200" dirty="0">
                <a:solidFill>
                  <a:srgbClr val="3F6390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, smart lock</a:t>
            </a:r>
            <a:endParaRPr lang="en-US" sz="1200" dirty="0">
              <a:solidFill>
                <a:srgbClr val="3F6390"/>
              </a:solidFill>
              <a:latin typeface="IBM Plex Mono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A5C63E68-8D76-903B-64E8-6FF6790CB95D}"/>
              </a:ext>
            </a:extLst>
          </p:cNvPr>
          <p:cNvSpPr/>
          <p:nvPr/>
        </p:nvSpPr>
        <p:spPr>
          <a:xfrm>
            <a:off x="1023091" y="3446252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20"/>
              </a:lnSpc>
            </a:pPr>
            <a:r>
              <a:rPr lang="en-US" sz="1200" b="1" dirty="0">
                <a:solidFill>
                  <a:srgbClr val="5C646B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Typical flaws:</a:t>
            </a:r>
            <a:r>
              <a:rPr lang="en-US" sz="1200" dirty="0">
                <a:solidFill>
                  <a:srgbClr val="5C646B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 firmware, hardware, embedded OS bugs</a:t>
            </a:r>
            <a:endParaRPr 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162AC2-F073-A52F-D3BE-F9170F7BD0BA}"/>
              </a:ext>
            </a:extLst>
          </p:cNvPr>
          <p:cNvSpPr/>
          <p:nvPr/>
        </p:nvSpPr>
        <p:spPr>
          <a:xfrm>
            <a:off x="873759" y="1940902"/>
            <a:ext cx="2457235" cy="2208943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7589B95-FDFF-A63A-4652-C685A8A7830E}"/>
              </a:ext>
            </a:extLst>
          </p:cNvPr>
          <p:cNvSpPr/>
          <p:nvPr/>
        </p:nvSpPr>
        <p:spPr>
          <a:xfrm>
            <a:off x="3555998" y="1940901"/>
            <a:ext cx="2457235" cy="2208943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53CD267-3CF3-8515-0443-40038AEBE2F3}"/>
              </a:ext>
            </a:extLst>
          </p:cNvPr>
          <p:cNvSpPr/>
          <p:nvPr/>
        </p:nvSpPr>
        <p:spPr>
          <a:xfrm>
            <a:off x="6238238" y="1940901"/>
            <a:ext cx="2457235" cy="2208943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87327F-5A0C-3800-912F-36CA41803C65}"/>
              </a:ext>
            </a:extLst>
          </p:cNvPr>
          <p:cNvSpPr/>
          <p:nvPr/>
        </p:nvSpPr>
        <p:spPr>
          <a:xfrm>
            <a:off x="8920478" y="1930741"/>
            <a:ext cx="2457235" cy="2208943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DACE04-E6C8-8B1D-137A-4AD37D2E6D4A}"/>
              </a:ext>
            </a:extLst>
          </p:cNvPr>
          <p:cNvSpPr txBox="1"/>
          <p:nvPr/>
        </p:nvSpPr>
        <p:spPr>
          <a:xfrm>
            <a:off x="792866" y="1461881"/>
            <a:ext cx="2802105" cy="371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4-layer IoT taxonomy</a:t>
            </a:r>
            <a:r>
              <a:rPr lang="en-US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9414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1A6F-DDD0-0996-1F0A-C3DEBAE0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353BE4-0CFC-C501-FB72-CCEFEF50547B}"/>
              </a:ext>
            </a:extLst>
          </p:cNvPr>
          <p:cNvSpPr txBox="1"/>
          <p:nvPr/>
        </p:nvSpPr>
        <p:spPr>
          <a:xfrm>
            <a:off x="792866" y="1461881"/>
            <a:ext cx="2802105" cy="371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4-layer IoT taxonomy</a:t>
            </a:r>
            <a:r>
              <a:rPr lang="en-US"/>
              <a:t>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2BD79B-EC94-3556-9D02-61C1A1F3ED62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IoT Taxonomy &amp; Classification Rules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6CCFCD-8F1A-57D7-B282-DD362345AC9B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3E324-50C0-32B3-6F99-FB84B4D33BF5}"/>
              </a:ext>
            </a:extLst>
          </p:cNvPr>
          <p:cNvSpPr txBox="1"/>
          <p:nvPr/>
        </p:nvSpPr>
        <p:spPr>
          <a:xfrm>
            <a:off x="795791" y="4561212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Aptos"/>
                <a:ea typeface="Arial"/>
                <a:cs typeface="Arial"/>
              </a:rPr>
              <a:t>Classification rules: </a:t>
            </a:r>
            <a:endParaRPr lang="en-US" sz="2000" b="0" i="0">
              <a:latin typeface="Aptos"/>
              <a:ea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ADC8D-41D4-1306-01AA-C49D75BC2E90}"/>
              </a:ext>
            </a:extLst>
          </p:cNvPr>
          <p:cNvSpPr txBox="1"/>
          <p:nvPr/>
        </p:nvSpPr>
        <p:spPr>
          <a:xfrm>
            <a:off x="1141915" y="4954769"/>
            <a:ext cx="10653876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900" dirty="0"/>
              <a:t>IoT-specific = technology purpose-built for IoT + deployed in IoT context + is an active element of an IoT system</a:t>
            </a:r>
          </a:p>
          <a:p>
            <a:pPr marL="342900" indent="-342900">
              <a:buFont typeface="Arial"/>
              <a:buChar char="•"/>
            </a:pPr>
            <a:r>
              <a:rPr lang="en-US" sz="1900" dirty="0"/>
              <a:t>Non-IoT = Vulnerabilities not fit in IoT + smartphones/laptops/PCs + Network infrastructures (routers, modems)</a:t>
            </a: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CF494598-7D9E-3C8F-F87B-8EC5773FA0F5}"/>
              </a:ext>
            </a:extLst>
          </p:cNvPr>
          <p:cNvSpPr/>
          <p:nvPr/>
        </p:nvSpPr>
        <p:spPr>
          <a:xfrm>
            <a:off x="3702791" y="2089891"/>
            <a:ext cx="216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Communication</a:t>
            </a:r>
            <a:endParaRPr lang="en-US" sz="15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3B34B406-FFDB-AB67-823C-C0033ADD317F}"/>
              </a:ext>
            </a:extLst>
          </p:cNvPr>
          <p:cNvSpPr/>
          <p:nvPr/>
        </p:nvSpPr>
        <p:spPr>
          <a:xfrm>
            <a:off x="3702791" y="2420091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Low-power protocols and their stacks</a:t>
            </a:r>
            <a:endParaRPr lang="en-US" sz="120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F2ACADB-B416-3FAE-2265-D1416C9DE06B}"/>
              </a:ext>
            </a:extLst>
          </p:cNvPr>
          <p:cNvSpPr/>
          <p:nvPr/>
        </p:nvSpPr>
        <p:spPr>
          <a:xfrm>
            <a:off x="3702791" y="2933170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F63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ZigBee, BLE, 6LoWPAN, LoRaWAN, MQTT, CoAP</a:t>
            </a:r>
            <a:endParaRPr lang="en-US" sz="120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3687417E-489A-6CFE-1173-3924592FF49C}"/>
              </a:ext>
            </a:extLst>
          </p:cNvPr>
          <p:cNvSpPr/>
          <p:nvPr/>
        </p:nvSpPr>
        <p:spPr>
          <a:xfrm>
            <a:off x="3702791" y="3446252"/>
            <a:ext cx="216992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C646B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Typical flaws:</a:t>
            </a:r>
            <a:r>
              <a:rPr lang="en-US" sz="1200" dirty="0">
                <a:solidFill>
                  <a:srgbClr val="5C646B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 protocol design, stack bugs</a:t>
            </a:r>
            <a:endParaRPr lang="en-US" sz="1200" dirty="0">
              <a:latin typeface="IBM Plex Sans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082E6BAA-10A7-6DAA-81A4-4FB4AE2AA69C}"/>
              </a:ext>
            </a:extLst>
          </p:cNvPr>
          <p:cNvSpPr/>
          <p:nvPr/>
        </p:nvSpPr>
        <p:spPr>
          <a:xfrm>
            <a:off x="6382491" y="2089891"/>
            <a:ext cx="216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</a:t>
            </a:r>
            <a:endParaRPr lang="en-US" sz="150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3374AE3-35E6-A7E2-E4F3-9D232048F1E7}"/>
              </a:ext>
            </a:extLst>
          </p:cNvPr>
          <p:cNvSpPr/>
          <p:nvPr/>
        </p:nvSpPr>
        <p:spPr>
          <a:xfrm>
            <a:off x="6382491" y="2420091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Companion apps and orchestration</a:t>
            </a:r>
            <a:endParaRPr lang="en-US" sz="120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E1D21FC-94A3-1CBB-D0BC-209DE2F64827}"/>
              </a:ext>
            </a:extLst>
          </p:cNvPr>
          <p:cNvSpPr/>
          <p:nvPr/>
        </p:nvSpPr>
        <p:spPr>
          <a:xfrm>
            <a:off x="6382491" y="2933170"/>
            <a:ext cx="216992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F63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 Assistant, SmartThings, IFTTT, OpenHAB</a:t>
            </a:r>
            <a:endParaRPr lang="en-US" sz="120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4516FE9B-EA4B-85CF-51A9-04BDC454D36E}"/>
              </a:ext>
            </a:extLst>
          </p:cNvPr>
          <p:cNvSpPr/>
          <p:nvPr/>
        </p:nvSpPr>
        <p:spPr>
          <a:xfrm>
            <a:off x="6382491" y="3651991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b="1">
                <a:solidFill>
                  <a:srgbClr val="5C64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flaws:</a:t>
            </a:r>
            <a:r>
              <a:rPr lang="en-US" sz="1200">
                <a:solidFill>
                  <a:srgbClr val="5C64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design and logic flaws</a:t>
            </a:r>
            <a:endParaRPr lang="en-US" sz="120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251F0832-A169-EC7E-9A6B-17FFB3C5A748}"/>
              </a:ext>
            </a:extLst>
          </p:cNvPr>
          <p:cNvSpPr/>
          <p:nvPr/>
        </p:nvSpPr>
        <p:spPr>
          <a:xfrm>
            <a:off x="9062191" y="2089891"/>
            <a:ext cx="216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backend</a:t>
            </a:r>
            <a:endParaRPr lang="en-US" sz="150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AD24BEBE-155C-1614-BF5E-A71B45347C93}"/>
              </a:ext>
            </a:extLst>
          </p:cNvPr>
          <p:cNvSpPr/>
          <p:nvPr/>
        </p:nvSpPr>
        <p:spPr>
          <a:xfrm>
            <a:off x="9062191" y="2420091"/>
            <a:ext cx="2169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IoT-specific cloud endpoints</a:t>
            </a:r>
            <a:endParaRPr lang="en-US" sz="120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7C9E229A-8F7E-2A9A-0F8A-9F7F432F979E}"/>
              </a:ext>
            </a:extLst>
          </p:cNvPr>
          <p:cNvSpPr/>
          <p:nvPr/>
        </p:nvSpPr>
        <p:spPr>
          <a:xfrm>
            <a:off x="9062191" y="2727430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F63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AWS IoT, Azure IoT, Google Cloud IoT</a:t>
            </a:r>
            <a:endParaRPr lang="en-US" sz="120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0DBC526A-A122-8987-4B5C-49D42EB29431}"/>
              </a:ext>
            </a:extLst>
          </p:cNvPr>
          <p:cNvSpPr/>
          <p:nvPr/>
        </p:nvSpPr>
        <p:spPr>
          <a:xfrm>
            <a:off x="9062191" y="3240512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b="1">
                <a:solidFill>
                  <a:srgbClr val="5C64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flaws:</a:t>
            </a:r>
            <a:r>
              <a:rPr lang="en-US" sz="1200">
                <a:solidFill>
                  <a:srgbClr val="5C64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misconfig, insecure APIs/tokens</a:t>
            </a:r>
            <a:endParaRPr lang="en-US" sz="120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D8645BC4-8AF4-5934-7549-4455A48D7F58}"/>
              </a:ext>
            </a:extLst>
          </p:cNvPr>
          <p:cNvSpPr/>
          <p:nvPr/>
        </p:nvSpPr>
        <p:spPr>
          <a:xfrm>
            <a:off x="1023091" y="2089891"/>
            <a:ext cx="216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</a:t>
            </a:r>
            <a:endParaRPr lang="en-US" sz="150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EA00ECD1-8570-D28A-F521-EC5722C91C91}"/>
              </a:ext>
            </a:extLst>
          </p:cNvPr>
          <p:cNvSpPr/>
          <p:nvPr/>
        </p:nvSpPr>
        <p:spPr>
          <a:xfrm>
            <a:off x="1023091" y="2420091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16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Constrained hardware, firmware, embedded OS</a:t>
            </a:r>
            <a:endParaRPr lang="en-US" sz="120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0E309893-0453-B244-918B-24CA9033FD72}"/>
              </a:ext>
            </a:extLst>
          </p:cNvPr>
          <p:cNvSpPr/>
          <p:nvPr/>
        </p:nvSpPr>
        <p:spPr>
          <a:xfrm>
            <a:off x="1023091" y="2933170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20"/>
              </a:lnSpc>
            </a:pPr>
            <a:r>
              <a:rPr lang="en-US" sz="1200" dirty="0">
                <a:solidFill>
                  <a:srgbClr val="3F6390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IP camera, thermostat, </a:t>
            </a:r>
            <a:r>
              <a:rPr lang="en-US" sz="1200" dirty="0" err="1">
                <a:solidFill>
                  <a:srgbClr val="3F6390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FreeRTOS</a:t>
            </a:r>
            <a:r>
              <a:rPr lang="en-US" sz="1200" dirty="0">
                <a:solidFill>
                  <a:srgbClr val="3F6390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, smart lock</a:t>
            </a:r>
          </a:p>
          <a:p>
            <a:pPr marL="0" indent="0" algn="l">
              <a:lnSpc>
                <a:spcPts val="1620"/>
              </a:lnSpc>
              <a:buNone/>
            </a:pPr>
            <a:endParaRPr lang="en-US" sz="1200" dirty="0">
              <a:solidFill>
                <a:srgbClr val="3F6390"/>
              </a:solidFill>
              <a:latin typeface="IBM Plex Mono"/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DE8119B4-2FFA-4A60-2324-AC1422017F77}"/>
              </a:ext>
            </a:extLst>
          </p:cNvPr>
          <p:cNvSpPr/>
          <p:nvPr/>
        </p:nvSpPr>
        <p:spPr>
          <a:xfrm>
            <a:off x="1023091" y="3446252"/>
            <a:ext cx="21699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20"/>
              </a:lnSpc>
            </a:pPr>
            <a:r>
              <a:rPr lang="en-US" sz="1200" b="1" dirty="0">
                <a:solidFill>
                  <a:srgbClr val="5C646B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Typical flaws:</a:t>
            </a:r>
            <a:r>
              <a:rPr lang="en-US" sz="1200" dirty="0">
                <a:solidFill>
                  <a:srgbClr val="5C646B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 firmware, hardware, embedded OS bugs</a:t>
            </a:r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1B9BC0-6287-A63C-337B-7504DC481042}"/>
              </a:ext>
            </a:extLst>
          </p:cNvPr>
          <p:cNvSpPr/>
          <p:nvPr/>
        </p:nvSpPr>
        <p:spPr>
          <a:xfrm>
            <a:off x="873759" y="1940902"/>
            <a:ext cx="2457235" cy="2208943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42EFA8-199A-E469-951E-278483DF1507}"/>
              </a:ext>
            </a:extLst>
          </p:cNvPr>
          <p:cNvSpPr/>
          <p:nvPr/>
        </p:nvSpPr>
        <p:spPr>
          <a:xfrm>
            <a:off x="3555998" y="1940901"/>
            <a:ext cx="2457235" cy="2208943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F41585-5CD4-F35A-266A-599AD7D49006}"/>
              </a:ext>
            </a:extLst>
          </p:cNvPr>
          <p:cNvSpPr/>
          <p:nvPr/>
        </p:nvSpPr>
        <p:spPr>
          <a:xfrm>
            <a:off x="6238238" y="1940901"/>
            <a:ext cx="2457235" cy="2208943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333175F-86E0-4B85-6515-636FBB9B8E36}"/>
              </a:ext>
            </a:extLst>
          </p:cNvPr>
          <p:cNvSpPr/>
          <p:nvPr/>
        </p:nvSpPr>
        <p:spPr>
          <a:xfrm>
            <a:off x="8920478" y="1930741"/>
            <a:ext cx="2457235" cy="2208943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5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71DFAF-4257-2EB6-5ECA-D07DCA1EAA64}"/>
              </a:ext>
            </a:extLst>
          </p:cNvPr>
          <p:cNvSpPr/>
          <p:nvPr/>
        </p:nvSpPr>
        <p:spPr>
          <a:xfrm>
            <a:off x="6252574" y="1889342"/>
            <a:ext cx="5344436" cy="3121069"/>
          </a:xfrm>
          <a:prstGeom prst="rect">
            <a:avLst/>
          </a:prstGeom>
          <a:solidFill>
            <a:schemeClr val="bg1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74957-12D3-CD09-BE27-2DDE715AA9FC}"/>
              </a:ext>
            </a:extLst>
          </p:cNvPr>
          <p:cNvSpPr/>
          <p:nvPr/>
        </p:nvSpPr>
        <p:spPr>
          <a:xfrm>
            <a:off x="814191" y="1889342"/>
            <a:ext cx="5260930" cy="3121069"/>
          </a:xfrm>
          <a:prstGeom prst="rect">
            <a:avLst/>
          </a:prstGeom>
          <a:solidFill>
            <a:schemeClr val="bg1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4FAEA-2CE1-0842-6D00-A31DC9EF2750}"/>
              </a:ext>
            </a:extLst>
          </p:cNvPr>
          <p:cNvSpPr txBox="1"/>
          <p:nvPr/>
        </p:nvSpPr>
        <p:spPr>
          <a:xfrm>
            <a:off x="817581" y="2557413"/>
            <a:ext cx="5340231" cy="2129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4 IoT Keyword dictionaries (one per layer)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851 potential IoT CVEs filtered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150 potential IoT CVEs randomly samples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150 potential non-IoT CVEs randomly samples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Total 300 CVEs for expert 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78A77-8753-A356-1156-6D2DCB5D60D2}"/>
              </a:ext>
            </a:extLst>
          </p:cNvPr>
          <p:cNvSpPr txBox="1"/>
          <p:nvPr/>
        </p:nvSpPr>
        <p:spPr>
          <a:xfrm>
            <a:off x="6277218" y="2461984"/>
            <a:ext cx="5501423" cy="2545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9 reviewers (</a:t>
            </a:r>
            <a:r>
              <a:rPr lang="en-US" sz="1200"/>
              <a:t>Security professor, Security exert, PhDs in IoT &amp; cybersecurity, Internet measurement, Quantum crypto for IoT, Web privacy</a:t>
            </a:r>
            <a:r>
              <a:rPr lang="en-US"/>
              <a:t>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Divided in 3 groups of 3 reviewers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100  CVEs per group, each CVE  reviewed by 3 people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CVE label set by majority voting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A92DD-917D-BB42-4054-4CD5C00A5CB2}"/>
              </a:ext>
            </a:extLst>
          </p:cNvPr>
          <p:cNvSpPr txBox="1"/>
          <p:nvPr/>
        </p:nvSpPr>
        <p:spPr>
          <a:xfrm>
            <a:off x="813373" y="1993106"/>
            <a:ext cx="4096705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b="1" dirty="0">
                <a:solidFill>
                  <a:srgbClr val="16191C"/>
                </a:solidFill>
                <a:latin typeface="IBM Plex Sans"/>
              </a:rPr>
              <a:t>Ground-truth sample selection</a:t>
            </a:r>
            <a:endParaRPr lang="en-US" sz="1600" b="1" dirty="0">
              <a:solidFill>
                <a:srgbClr val="D4464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77885-65B9-CE26-F07E-D93ED8F9F921}"/>
              </a:ext>
            </a:extLst>
          </p:cNvPr>
          <p:cNvSpPr txBox="1"/>
          <p:nvPr/>
        </p:nvSpPr>
        <p:spPr>
          <a:xfrm>
            <a:off x="6274933" y="1994354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dirty="0">
                <a:solidFill>
                  <a:srgbClr val="16191C"/>
                </a:solidFill>
                <a:latin typeface="IBM Plex Sans"/>
                <a:ea typeface="IBM Plex Sans"/>
                <a:cs typeface="IBM Plex Sans"/>
              </a:rPr>
              <a:t>Ground-truth</a:t>
            </a:r>
            <a:r>
              <a:rPr lang="en-US" sz="1600" b="1" dirty="0">
                <a:solidFill>
                  <a:srgbClr val="16191C"/>
                </a:solidFill>
                <a:latin typeface="IBM Plex Sans"/>
                <a:ea typeface="IBM Plex Sans"/>
                <a:cs typeface="IBM Plex Sans"/>
              </a:rPr>
              <a:t> labeling</a:t>
            </a:r>
            <a:endParaRPr lang="en-US" sz="1600" dirty="0">
              <a:solidFill>
                <a:srgbClr val="16191C"/>
              </a:solidFill>
              <a:latin typeface="IBM Plex San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CE4FBE-D086-A11F-CDDE-7F20B597378A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Building the Ground-Truth Dataset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9948D-E2DC-B18C-B504-740D80F188AC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185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ECF98D-5496-9603-ACEA-2DB0201A5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2386" y="1189164"/>
            <a:ext cx="7788756" cy="54473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59098A-E8CE-A988-FAE6-BD6C6F404B23}"/>
              </a:ext>
            </a:extLst>
          </p:cNvPr>
          <p:cNvSpPr txBox="1"/>
          <p:nvPr/>
        </p:nvSpPr>
        <p:spPr>
          <a:xfrm>
            <a:off x="6425851" y="1775216"/>
            <a:ext cx="158328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</a:rPr>
              <a:t>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61E02E-F72C-9D2A-B32B-B20CC0BD3744}"/>
              </a:ext>
            </a:extLst>
          </p:cNvPr>
          <p:cNvSpPr txBox="1"/>
          <p:nvPr/>
        </p:nvSpPr>
        <p:spPr>
          <a:xfrm>
            <a:off x="980090" y="1886975"/>
            <a:ext cx="197952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C00000"/>
                </a:solidFill>
              </a:rPr>
              <a:t>Affected vendor &amp; product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6798E-83C3-FA11-41F0-2A8F24D00E89}"/>
              </a:ext>
            </a:extLst>
          </p:cNvPr>
          <p:cNvSpPr txBox="1"/>
          <p:nvPr/>
        </p:nvSpPr>
        <p:spPr>
          <a:xfrm>
            <a:off x="6904205" y="4091696"/>
            <a:ext cx="22676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C00000"/>
                </a:solidFill>
              </a:rPr>
              <a:t>Layer-level label?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045CB-97D5-3DD8-52C6-7FE6937F9E95}"/>
              </a:ext>
            </a:extLst>
          </p:cNvPr>
          <p:cNvSpPr txBox="1"/>
          <p:nvPr/>
        </p:nvSpPr>
        <p:spPr>
          <a:xfrm>
            <a:off x="5978810" y="3096015"/>
            <a:ext cx="247736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C00000"/>
                </a:solidFill>
              </a:rPr>
              <a:t>IoT/Non-IoT label?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4FBBA4-714E-6E31-8413-58A64A2E9A01}"/>
              </a:ext>
            </a:extLst>
          </p:cNvPr>
          <p:cNvSpPr txBox="1"/>
          <p:nvPr/>
        </p:nvSpPr>
        <p:spPr>
          <a:xfrm>
            <a:off x="7512970" y="4863855"/>
            <a:ext cx="158328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</a:rPr>
              <a:t>Reasoning?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D698A8-741C-9514-5870-1E2338E802B1}"/>
              </a:ext>
            </a:extLst>
          </p:cNvPr>
          <p:cNvCxnSpPr/>
          <p:nvPr/>
        </p:nvCxnSpPr>
        <p:spPr>
          <a:xfrm>
            <a:off x="2155033" y="2298107"/>
            <a:ext cx="243840" cy="3352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EE876227-718F-AFA6-A10E-1158ECE1BF92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</a:rPr>
              <a:t>Building the Ground-Truth Dataset</a:t>
            </a:r>
            <a:r>
              <a:rPr lang="en-US" sz="4400" b="0" i="0">
                <a:latin typeface="Aptos Display"/>
              </a:rPr>
              <a:t>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E6A0D3-8804-C75A-BF20-4D89D39B58E2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86770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7281-B1DA-3833-E909-F50C86BD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23" y="-3028"/>
            <a:ext cx="10515600" cy="1325563"/>
          </a:xfrm>
        </p:spPr>
        <p:txBody>
          <a:bodyPr/>
          <a:lstStyle/>
          <a:p>
            <a:r>
              <a:rPr lang="en-US"/>
              <a:t>Manual labeling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2387CA-BDBF-4E84-E2B3-24D548943B02}"/>
              </a:ext>
            </a:extLst>
          </p:cNvPr>
          <p:cNvSpPr txBox="1"/>
          <p:nvPr/>
        </p:nvSpPr>
        <p:spPr>
          <a:xfrm>
            <a:off x="1856545" y="4574384"/>
            <a:ext cx="291507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IoT/Non-IoT Classification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3C9F4-5FE3-D597-FF2B-85DA987C5BB6}"/>
              </a:ext>
            </a:extLst>
          </p:cNvPr>
          <p:cNvSpPr txBox="1"/>
          <p:nvPr/>
        </p:nvSpPr>
        <p:spPr>
          <a:xfrm>
            <a:off x="2007699" y="5028052"/>
            <a:ext cx="24266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err="1">
                <a:solidFill>
                  <a:srgbClr val="00B050"/>
                </a:solidFill>
              </a:rPr>
              <a:t>Krippendorff</a:t>
            </a:r>
            <a:r>
              <a:rPr lang="en-US" sz="1600">
                <a:solidFill>
                  <a:srgbClr val="00B050"/>
                </a:solidFill>
              </a:rPr>
              <a:t> α = 0.80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15DF5-E099-C219-BB14-51B5DA0DA889}"/>
              </a:ext>
            </a:extLst>
          </p:cNvPr>
          <p:cNvSpPr txBox="1"/>
          <p:nvPr/>
        </p:nvSpPr>
        <p:spPr>
          <a:xfrm>
            <a:off x="7309888" y="4582343"/>
            <a:ext cx="291507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Layer-level classification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8F7DD-95F8-8CF5-3BDB-7D128D1493A5}"/>
              </a:ext>
            </a:extLst>
          </p:cNvPr>
          <p:cNvSpPr txBox="1"/>
          <p:nvPr/>
        </p:nvSpPr>
        <p:spPr>
          <a:xfrm>
            <a:off x="7428652" y="5027966"/>
            <a:ext cx="232892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err="1">
                <a:solidFill>
                  <a:srgbClr val="00B050"/>
                </a:solidFill>
              </a:rPr>
              <a:t>Krippendorff</a:t>
            </a:r>
            <a:r>
              <a:rPr lang="en-US" sz="1600">
                <a:solidFill>
                  <a:srgbClr val="00B050"/>
                </a:solidFill>
              </a:rPr>
              <a:t> </a:t>
            </a:r>
            <a:r>
              <a:rPr lang="en-US" sz="1600">
                <a:solidFill>
                  <a:srgbClr val="00B050"/>
                </a:solidFill>
                <a:latin typeface="Aptos"/>
              </a:rPr>
              <a:t>α</a:t>
            </a:r>
            <a:r>
              <a:rPr lang="en-US" sz="1600">
                <a:solidFill>
                  <a:srgbClr val="00B050"/>
                </a:solidFill>
              </a:rPr>
              <a:t> = 0.28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53017-8136-3A49-65BA-A9E5A0F1C874}"/>
              </a:ext>
            </a:extLst>
          </p:cNvPr>
          <p:cNvSpPr txBox="1"/>
          <p:nvPr/>
        </p:nvSpPr>
        <p:spPr>
          <a:xfrm>
            <a:off x="7949069" y="5289288"/>
            <a:ext cx="12738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2">
                    <a:lumMod val="49000"/>
                  </a:schemeClr>
                </a:solidFill>
              </a:rPr>
              <a:t>Poor agreement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77C99E-33A6-9C1D-D164-4E6A82B278D9}"/>
              </a:ext>
            </a:extLst>
          </p:cNvPr>
          <p:cNvSpPr txBox="1"/>
          <p:nvPr/>
        </p:nvSpPr>
        <p:spPr>
          <a:xfrm>
            <a:off x="2304394" y="5289288"/>
            <a:ext cx="182092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chemeClr val="bg2">
                    <a:lumMod val="49000"/>
                  </a:schemeClr>
                </a:solidFill>
              </a:rPr>
              <a:t>Satisfactory agreement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2D6762-E53E-C262-9558-BE47CFF07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51" y="1340115"/>
            <a:ext cx="3966890" cy="32498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3C99AB0-1596-2B93-592B-E228C228B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308" y="1238552"/>
            <a:ext cx="3905088" cy="3249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7E802D-A054-8E63-694F-85F843282581}"/>
              </a:ext>
            </a:extLst>
          </p:cNvPr>
          <p:cNvSpPr txBox="1"/>
          <p:nvPr/>
        </p:nvSpPr>
        <p:spPr>
          <a:xfrm>
            <a:off x="6893269" y="5568066"/>
            <a:ext cx="475403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CVE descriptions lack technical detail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Reviewer expertise gaps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Some vulnerabilities span multiple layers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37F94-A9E5-5E20-56FB-5563987769F1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45033-E816-EA2B-CC7F-908E0B23A0CB}"/>
              </a:ext>
            </a:extLst>
          </p:cNvPr>
          <p:cNvSpPr txBox="1"/>
          <p:nvPr/>
        </p:nvSpPr>
        <p:spPr>
          <a:xfrm>
            <a:off x="533093" y="6135537"/>
            <a:ext cx="242903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Tie breaker</a:t>
            </a:r>
          </a:p>
          <a:p>
            <a:r>
              <a:rPr lang="en-US" sz="1600" dirty="0"/>
              <a:t>148 IoT &amp; 152 non-IoT</a:t>
            </a:r>
          </a:p>
        </p:txBody>
      </p:sp>
    </p:spTree>
    <p:extLst>
      <p:ext uri="{BB962C8B-B14F-4D97-AF65-F5344CB8AC3E}">
        <p14:creationId xmlns:p14="http://schemas.microsoft.com/office/powerpoint/2010/main" val="102583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F2029FE-F86E-D64F-8D0F-E8BD17CD072D}"/>
              </a:ext>
            </a:extLst>
          </p:cNvPr>
          <p:cNvSpPr/>
          <p:nvPr/>
        </p:nvSpPr>
        <p:spPr>
          <a:xfrm>
            <a:off x="7519765" y="1342511"/>
            <a:ext cx="4495703" cy="4501078"/>
          </a:xfrm>
          <a:prstGeom prst="rect">
            <a:avLst/>
          </a:prstGeom>
          <a:solidFill>
            <a:srgbClr val="E8F2F8"/>
          </a:solidFill>
          <a:ln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57FA18-65B5-B9E1-F2CD-EEB2E8AE4D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664754"/>
              </p:ext>
            </p:extLst>
          </p:nvPr>
        </p:nvGraphicFramePr>
        <p:xfrm>
          <a:off x="566547" y="1333965"/>
          <a:ext cx="67634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839">
                  <a:extLst>
                    <a:ext uri="{9D8B030D-6E8A-4147-A177-3AD203B41FA5}">
                      <a16:colId xmlns:a16="http://schemas.microsoft.com/office/drawing/2014/main" val="2442167248"/>
                    </a:ext>
                  </a:extLst>
                </a:gridCol>
                <a:gridCol w="1289680">
                  <a:extLst>
                    <a:ext uri="{9D8B030D-6E8A-4147-A177-3AD203B41FA5}">
                      <a16:colId xmlns:a16="http://schemas.microsoft.com/office/drawing/2014/main" val="3040552965"/>
                    </a:ext>
                  </a:extLst>
                </a:gridCol>
                <a:gridCol w="1282839">
                  <a:extLst>
                    <a:ext uri="{9D8B030D-6E8A-4147-A177-3AD203B41FA5}">
                      <a16:colId xmlns:a16="http://schemas.microsoft.com/office/drawing/2014/main" val="3370669484"/>
                    </a:ext>
                  </a:extLst>
                </a:gridCol>
                <a:gridCol w="1186630">
                  <a:extLst>
                    <a:ext uri="{9D8B030D-6E8A-4147-A177-3AD203B41FA5}">
                      <a16:colId xmlns:a16="http://schemas.microsoft.com/office/drawing/2014/main" val="1567711437"/>
                    </a:ext>
                  </a:extLst>
                </a:gridCol>
                <a:gridCol w="1216424">
                  <a:extLst>
                    <a:ext uri="{9D8B030D-6E8A-4147-A177-3AD203B41FA5}">
                      <a16:colId xmlns:a16="http://schemas.microsoft.com/office/drawing/2014/main" val="2457500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Model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Accuracy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Precision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Recall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F1 score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9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94.67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93.96 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95.24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94.59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latin typeface="Aptos"/>
                        </a:rPr>
                        <a:t>95.33  </a:t>
                      </a:r>
                      <a:r>
                        <a:rPr lang="en-US" sz="1400" b="0" i="0" u="none" strike="noStrike" noProof="0">
                          <a:latin typeface="Apto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94.04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96.60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95.30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13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DeepSeek-r1-70B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92.67 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89.81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95.92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92.76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723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Llama4-scout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89.33  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83.63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97.28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89.94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6474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99C516-E801-B0EF-A86B-01C39FAF675F}"/>
              </a:ext>
            </a:extLst>
          </p:cNvPr>
          <p:cNvSpPr txBox="1"/>
          <p:nvPr/>
        </p:nvSpPr>
        <p:spPr>
          <a:xfrm>
            <a:off x="7633094" y="1538794"/>
            <a:ext cx="331471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>
                    <a:lumMod val="76000"/>
                  </a:schemeClr>
                </a:solidFill>
              </a:rPr>
              <a:t>LLM vs human reasoning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140B4-AD82-D1F2-6FCD-6AC9C6CEF420}"/>
              </a:ext>
            </a:extLst>
          </p:cNvPr>
          <p:cNvSpPr txBox="1"/>
          <p:nvPr/>
        </p:nvSpPr>
        <p:spPr>
          <a:xfrm>
            <a:off x="7632566" y="1882064"/>
            <a:ext cx="427507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2">
                    <a:lumMod val="25000"/>
                  </a:schemeClr>
                </a:solidFill>
              </a:rPr>
              <a:t>Human errors: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182880" indent="-182880">
              <a:buFont typeface="Arial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Cognitive error -&gt; "smart lock" misread as IoT device while Android feature (</a:t>
            </a:r>
            <a:r>
              <a:rPr lang="en-US" sz="14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CVE-2016-6769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)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pPr marL="182880" indent="-182880">
              <a:buFont typeface="Arial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Limited domain-knowledge -&gt; "modem" misunderstood as cable modem</a:t>
            </a:r>
          </a:p>
          <a:p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    (</a:t>
            </a:r>
            <a:r>
              <a:rPr lang="en-US" sz="14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CVE-2022-33211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pPr marL="182880" indent="-182880">
              <a:buFont typeface="Arial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Unsure labels for poorly documented technologies (</a:t>
            </a:r>
            <a:r>
              <a:rPr lang="en-US" sz="14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CVE-2024-25507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)</a:t>
            </a:r>
          </a:p>
          <a:p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600" b="1">
                <a:solidFill>
                  <a:schemeClr val="bg2">
                    <a:lumMod val="25000"/>
                  </a:schemeClr>
                </a:solidFill>
              </a:rPr>
              <a:t>LLM errors: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Borderline technologies (Busy box, WolfSSL)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D7AEC20-472F-F535-29A5-D7C91C61F452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1174858" cy="1342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</a:rPr>
              <a:t>LLM Performance on the Ground-Truth Dataset</a:t>
            </a:r>
            <a:r>
              <a:rPr lang="en-US" sz="4400" b="0" i="0">
                <a:latin typeface="Aptos Display"/>
              </a:rPr>
              <a:t>​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D6E865-3486-9BB3-E4BF-10092C6FB086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83B0FA-D4B6-F723-A6B8-6319B22FA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61" y="3368212"/>
            <a:ext cx="6763607" cy="26473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012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4EF80-0C1E-6BAF-2BBC-E1860E1F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6494329-1E85-12E3-7923-F738B92EB626}"/>
              </a:ext>
            </a:extLst>
          </p:cNvPr>
          <p:cNvSpPr/>
          <p:nvPr/>
        </p:nvSpPr>
        <p:spPr>
          <a:xfrm>
            <a:off x="7519765" y="1342511"/>
            <a:ext cx="4495703" cy="4501078"/>
          </a:xfrm>
          <a:prstGeom prst="rect">
            <a:avLst/>
          </a:prstGeom>
          <a:solidFill>
            <a:srgbClr val="E8F2F8"/>
          </a:solidFill>
          <a:ln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23E69A-2B22-D092-0AB7-D0A9DAD6A6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6547" y="1333965"/>
          <a:ext cx="67634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839">
                  <a:extLst>
                    <a:ext uri="{9D8B030D-6E8A-4147-A177-3AD203B41FA5}">
                      <a16:colId xmlns:a16="http://schemas.microsoft.com/office/drawing/2014/main" val="2442167248"/>
                    </a:ext>
                  </a:extLst>
                </a:gridCol>
                <a:gridCol w="1289680">
                  <a:extLst>
                    <a:ext uri="{9D8B030D-6E8A-4147-A177-3AD203B41FA5}">
                      <a16:colId xmlns:a16="http://schemas.microsoft.com/office/drawing/2014/main" val="3040552965"/>
                    </a:ext>
                  </a:extLst>
                </a:gridCol>
                <a:gridCol w="1282839">
                  <a:extLst>
                    <a:ext uri="{9D8B030D-6E8A-4147-A177-3AD203B41FA5}">
                      <a16:colId xmlns:a16="http://schemas.microsoft.com/office/drawing/2014/main" val="3370669484"/>
                    </a:ext>
                  </a:extLst>
                </a:gridCol>
                <a:gridCol w="1186630">
                  <a:extLst>
                    <a:ext uri="{9D8B030D-6E8A-4147-A177-3AD203B41FA5}">
                      <a16:colId xmlns:a16="http://schemas.microsoft.com/office/drawing/2014/main" val="1567711437"/>
                    </a:ext>
                  </a:extLst>
                </a:gridCol>
                <a:gridCol w="1216424">
                  <a:extLst>
                    <a:ext uri="{9D8B030D-6E8A-4147-A177-3AD203B41FA5}">
                      <a16:colId xmlns:a16="http://schemas.microsoft.com/office/drawing/2014/main" val="2457500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Model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Accuracy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Precision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Recall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F1 score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9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94.67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93.96 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95.24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94.59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latin typeface="Aptos"/>
                        </a:rPr>
                        <a:t>95.33  </a:t>
                      </a:r>
                      <a:r>
                        <a:rPr lang="en-US" sz="1400" b="0" i="0" u="none" strike="noStrike" noProof="0">
                          <a:latin typeface="Apto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94.04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96.60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95.30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13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DeepSeek-r1-70B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92.67 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89.81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95.92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92.76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723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Llama4-scout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89.33  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83.63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97.28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89.94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6474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D6A3F7-537E-9073-2732-E4BF75099153}"/>
              </a:ext>
            </a:extLst>
          </p:cNvPr>
          <p:cNvSpPr txBox="1"/>
          <p:nvPr/>
        </p:nvSpPr>
        <p:spPr>
          <a:xfrm>
            <a:off x="7633094" y="1538794"/>
            <a:ext cx="331471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>
                    <a:lumMod val="76000"/>
                  </a:schemeClr>
                </a:solidFill>
              </a:rPr>
              <a:t>LLM vs human reasoning 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6BE83EA-6E4C-5744-17A2-4C9495EE4ACA}"/>
              </a:ext>
            </a:extLst>
          </p:cNvPr>
          <p:cNvGraphicFramePr>
            <a:graphicFrameLocks/>
          </p:cNvGraphicFramePr>
          <p:nvPr/>
        </p:nvGraphicFramePr>
        <p:xfrm>
          <a:off x="567242" y="3916115"/>
          <a:ext cx="6768947" cy="222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305">
                  <a:extLst>
                    <a:ext uri="{9D8B030D-6E8A-4147-A177-3AD203B41FA5}">
                      <a16:colId xmlns:a16="http://schemas.microsoft.com/office/drawing/2014/main" val="2442167248"/>
                    </a:ext>
                  </a:extLst>
                </a:gridCol>
                <a:gridCol w="1292902">
                  <a:extLst>
                    <a:ext uri="{9D8B030D-6E8A-4147-A177-3AD203B41FA5}">
                      <a16:colId xmlns:a16="http://schemas.microsoft.com/office/drawing/2014/main" val="3040552965"/>
                    </a:ext>
                  </a:extLst>
                </a:gridCol>
                <a:gridCol w="1303972">
                  <a:extLst>
                    <a:ext uri="{9D8B030D-6E8A-4147-A177-3AD203B41FA5}">
                      <a16:colId xmlns:a16="http://schemas.microsoft.com/office/drawing/2014/main" val="3370669484"/>
                    </a:ext>
                  </a:extLst>
                </a:gridCol>
                <a:gridCol w="1171131">
                  <a:extLst>
                    <a:ext uri="{9D8B030D-6E8A-4147-A177-3AD203B41FA5}">
                      <a16:colId xmlns:a16="http://schemas.microsoft.com/office/drawing/2014/main" val="1567711437"/>
                    </a:ext>
                  </a:extLst>
                </a:gridCol>
                <a:gridCol w="1218637">
                  <a:extLst>
                    <a:ext uri="{9D8B030D-6E8A-4147-A177-3AD203B41FA5}">
                      <a16:colId xmlns:a16="http://schemas.microsoft.com/office/drawing/2014/main" val="2457500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Model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Accuracy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Precision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Recall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F1 score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9497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Human reviewers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97.58   </a:t>
                      </a:r>
                      <a:endParaRPr lang="en-US" sz="14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98.6</a:t>
                      </a:r>
                      <a:endParaRPr lang="en-US" sz="14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97.24</a:t>
                      </a:r>
                      <a:endParaRPr lang="en-US" sz="14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97.92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986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latin typeface="Aptos"/>
                        </a:rPr>
                        <a:t>99.31  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100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99.31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99.65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97.58  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97.28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98.62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97.95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13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DeepSeek-r1-70B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96.19  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94.7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98.62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96.62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723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Llama4-scout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92.39   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87.8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99.31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93.2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6474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070F40-A054-AD1F-4288-2A965003A022}"/>
              </a:ext>
            </a:extLst>
          </p:cNvPr>
          <p:cNvSpPr txBox="1"/>
          <p:nvPr/>
        </p:nvSpPr>
        <p:spPr>
          <a:xfrm>
            <a:off x="7632566" y="1882064"/>
            <a:ext cx="427507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2">
                    <a:lumMod val="25000"/>
                  </a:schemeClr>
                </a:solidFill>
              </a:rPr>
              <a:t>Human errors: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182880" indent="-182880">
              <a:buFont typeface="Arial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Cognitive error -&gt; "smart lock" misread as IoT device while Android feature (</a:t>
            </a:r>
            <a:r>
              <a:rPr lang="en-US" sz="14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CVE-2016-6769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)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pPr marL="182880" indent="-182880">
              <a:buFont typeface="Arial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Limited domain-knowledge -&gt; "modem" misunderstood as cable modem</a:t>
            </a:r>
          </a:p>
          <a:p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    (</a:t>
            </a:r>
            <a:r>
              <a:rPr lang="en-US" sz="14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CVE-2022-33211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pPr marL="182880" indent="-182880">
              <a:buFont typeface="Arial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Unsure labels for poorly documented technologies (</a:t>
            </a:r>
            <a:r>
              <a:rPr lang="en-US" sz="14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CVE-2024-25507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)</a:t>
            </a:r>
          </a:p>
          <a:p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600" b="1">
                <a:solidFill>
                  <a:schemeClr val="bg2">
                    <a:lumMod val="25000"/>
                  </a:schemeClr>
                </a:solidFill>
              </a:rPr>
              <a:t>LLM errors: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Borderline technologies (Busy box, WolfSSL)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E083D1-66E0-C20D-AF28-4BF7472F7F70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1174858" cy="1342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</a:rPr>
              <a:t>LLM Performance on the Ground-Truth Dataset</a:t>
            </a:r>
            <a:r>
              <a:rPr lang="en-US" sz="4400" b="0" i="0">
                <a:latin typeface="Aptos Display"/>
              </a:rPr>
              <a:t>​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48B99-0404-D84A-35FF-1C198F6921EC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7104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CB3C-AA93-402F-411B-87BF5CFC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-635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/>
              <a:t>Phase 2: </a:t>
            </a:r>
            <a:r>
              <a:rPr lang="en-US">
                <a:ea typeface="+mj-lt"/>
                <a:cs typeface="+mj-lt"/>
              </a:rPr>
              <a:t>Large scale classification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BE1DAE-832B-EB87-F363-5BEADD0D18A6}"/>
              </a:ext>
            </a:extLst>
          </p:cNvPr>
          <p:cNvSpPr/>
          <p:nvPr/>
        </p:nvSpPr>
        <p:spPr>
          <a:xfrm>
            <a:off x="505145" y="2162709"/>
            <a:ext cx="3424719" cy="35788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0476D3-9E45-42B6-1963-7AF5DB51463A}"/>
              </a:ext>
            </a:extLst>
          </p:cNvPr>
          <p:cNvSpPr/>
          <p:nvPr/>
        </p:nvSpPr>
        <p:spPr>
          <a:xfrm>
            <a:off x="518264" y="2154816"/>
            <a:ext cx="3398644" cy="3377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C1979B-80A3-AD5E-E490-F8A2EFAEDD75}"/>
              </a:ext>
            </a:extLst>
          </p:cNvPr>
          <p:cNvSpPr txBox="1"/>
          <p:nvPr/>
        </p:nvSpPr>
        <p:spPr>
          <a:xfrm>
            <a:off x="613805" y="2158200"/>
            <a:ext cx="331600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Phase 1: Ground-truth &amp; validation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9F34CD-187A-FEF1-F49E-6F753E6210CF}"/>
              </a:ext>
            </a:extLst>
          </p:cNvPr>
          <p:cNvSpPr txBox="1"/>
          <p:nvPr/>
        </p:nvSpPr>
        <p:spPr>
          <a:xfrm>
            <a:off x="610608" y="2688066"/>
            <a:ext cx="322979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Define IoT taxonomy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Create keyword dictionaries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Filter CVEs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Manual review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Validate LLMs and human</a:t>
            </a:r>
          </a:p>
          <a:p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09321-30FA-D7A3-CB40-DD8C555F1756}"/>
              </a:ext>
            </a:extLst>
          </p:cNvPr>
          <p:cNvSpPr/>
          <p:nvPr/>
        </p:nvSpPr>
        <p:spPr>
          <a:xfrm>
            <a:off x="4320322" y="2153970"/>
            <a:ext cx="3370422" cy="366020"/>
          </a:xfrm>
          <a:prstGeom prst="rect">
            <a:avLst/>
          </a:prstGeom>
          <a:solidFill>
            <a:srgbClr val="D4464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1D44C-AFD7-3EF7-C5D0-C4D817B30934}"/>
              </a:ext>
            </a:extLst>
          </p:cNvPr>
          <p:cNvSpPr txBox="1"/>
          <p:nvPr/>
        </p:nvSpPr>
        <p:spPr>
          <a:xfrm>
            <a:off x="4384273" y="2157921"/>
            <a:ext cx="3302366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Phase 2: Large scale 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1477C-206E-05EB-F49D-2E1499BBCFC7}"/>
              </a:ext>
            </a:extLst>
          </p:cNvPr>
          <p:cNvSpPr txBox="1"/>
          <p:nvPr/>
        </p:nvSpPr>
        <p:spPr>
          <a:xfrm>
            <a:off x="4507418" y="2688065"/>
            <a:ext cx="322979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Apply best-performing LLM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Classify all 225k CVEs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Consistency analysis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Comparison with prior datasets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Manual verification</a:t>
            </a:r>
          </a:p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2AD503-66C7-7DF9-B286-5E14D1EA3C2C}"/>
              </a:ext>
            </a:extLst>
          </p:cNvPr>
          <p:cNvSpPr/>
          <p:nvPr/>
        </p:nvSpPr>
        <p:spPr>
          <a:xfrm>
            <a:off x="4323706" y="2162708"/>
            <a:ext cx="3364787" cy="3561708"/>
          </a:xfrm>
          <a:prstGeom prst="rect">
            <a:avLst/>
          </a:prstGeom>
          <a:noFill/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18C15-9E05-A8A5-F939-9496FB190909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8876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A49FAA-C1DE-6C23-F072-E9054908F5E1}"/>
              </a:ext>
            </a:extLst>
          </p:cNvPr>
          <p:cNvSpPr/>
          <p:nvPr/>
        </p:nvSpPr>
        <p:spPr>
          <a:xfrm>
            <a:off x="924560" y="2143760"/>
            <a:ext cx="10596880" cy="1849120"/>
          </a:xfrm>
          <a:prstGeom prst="rect">
            <a:avLst/>
          </a:prstGeom>
          <a:solidFill>
            <a:srgbClr val="E8F2F8"/>
          </a:solidFill>
          <a:ln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FDDB3-25CD-7662-00AA-4B04D2245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27" y="138848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Applying O3 to all CVEs from 2013 to 2024 (225,262)       </a:t>
            </a:r>
            <a:r>
              <a:rPr lang="en-US" sz="2000">
                <a:solidFill>
                  <a:srgbClr val="BF2D00"/>
                </a:solidFill>
                <a:ea typeface="+mn-lt"/>
                <a:cs typeface="+mn-lt"/>
              </a:rPr>
              <a:t>15,066 IoT CVEs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FBDE92-0337-1D4B-52DF-59921D104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082210"/>
              </p:ext>
            </p:extLst>
          </p:nvPr>
        </p:nvGraphicFramePr>
        <p:xfrm>
          <a:off x="1456099" y="4458831"/>
          <a:ext cx="9420516" cy="148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086">
                  <a:extLst>
                    <a:ext uri="{9D8B030D-6E8A-4147-A177-3AD203B41FA5}">
                      <a16:colId xmlns:a16="http://schemas.microsoft.com/office/drawing/2014/main" val="2570198588"/>
                    </a:ext>
                  </a:extLst>
                </a:gridCol>
                <a:gridCol w="1570086">
                  <a:extLst>
                    <a:ext uri="{9D8B030D-6E8A-4147-A177-3AD203B41FA5}">
                      <a16:colId xmlns:a16="http://schemas.microsoft.com/office/drawing/2014/main" val="1438046305"/>
                    </a:ext>
                  </a:extLst>
                </a:gridCol>
                <a:gridCol w="1570086">
                  <a:extLst>
                    <a:ext uri="{9D8B030D-6E8A-4147-A177-3AD203B41FA5}">
                      <a16:colId xmlns:a16="http://schemas.microsoft.com/office/drawing/2014/main" val="3824244320"/>
                    </a:ext>
                  </a:extLst>
                </a:gridCol>
                <a:gridCol w="1570086">
                  <a:extLst>
                    <a:ext uri="{9D8B030D-6E8A-4147-A177-3AD203B41FA5}">
                      <a16:colId xmlns:a16="http://schemas.microsoft.com/office/drawing/2014/main" val="2718739613"/>
                    </a:ext>
                  </a:extLst>
                </a:gridCol>
                <a:gridCol w="1570086">
                  <a:extLst>
                    <a:ext uri="{9D8B030D-6E8A-4147-A177-3AD203B41FA5}">
                      <a16:colId xmlns:a16="http://schemas.microsoft.com/office/drawing/2014/main" val="2483057269"/>
                    </a:ext>
                  </a:extLst>
                </a:gridCol>
                <a:gridCol w="1570086">
                  <a:extLst>
                    <a:ext uri="{9D8B030D-6E8A-4147-A177-3AD203B41FA5}">
                      <a16:colId xmlns:a16="http://schemas.microsoft.com/office/drawing/2014/main" val="381215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95% bootstrap CI 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95% bootstrap CI </a:t>
                      </a:r>
                      <a:endParaRPr lang="en-US" sz="1400" b="1" i="0" u="none" strike="noStrike" noProof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446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D44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692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[0.90, 0.94] 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[0.97, 0.98] 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025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[0.83, 0.88]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[0.95, 0.97] 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33474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Non-IoT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[0.97, 0.99] 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[0.995, 0.999] 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5339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66C988-127A-F78A-3808-66BC874C3BE0}"/>
              </a:ext>
            </a:extLst>
          </p:cNvPr>
          <p:cNvSpPr txBox="1"/>
          <p:nvPr/>
        </p:nvSpPr>
        <p:spPr>
          <a:xfrm>
            <a:off x="4667178" y="2138695"/>
            <a:ext cx="302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4">
                    <a:lumMod val="49000"/>
                  </a:schemeClr>
                </a:solidFill>
              </a:rPr>
              <a:t>Consistency analysis</a:t>
            </a:r>
            <a:endParaRPr lang="en-US" b="1">
              <a:solidFill>
                <a:schemeClr val="accent4">
                  <a:lumMod val="49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2A4B1-E023-2079-2079-6ABA61CFDB7D}"/>
              </a:ext>
            </a:extLst>
          </p:cNvPr>
          <p:cNvSpPr txBox="1"/>
          <p:nvPr/>
        </p:nvSpPr>
        <p:spPr>
          <a:xfrm>
            <a:off x="923029" y="2533806"/>
            <a:ext cx="10644729" cy="1458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/>
              <a:t>10 classification iterations on 1000 randomly selected CVEs (500 IoT &amp; 500 Non-IoT)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/>
              <a:t>Unanimity (U): Measures how often  the exact same label is assigned to a CVE across all runs</a:t>
            </a:r>
            <a:endParaRPr lang="en-US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/>
              <a:t>Maximum class agreement(C): Measures consistency per CVE, the fraction of most frequent assigned label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62F5E57-B718-5B38-0031-FB1B42548DF5}"/>
              </a:ext>
            </a:extLst>
          </p:cNvPr>
          <p:cNvSpPr/>
          <p:nvPr/>
        </p:nvSpPr>
        <p:spPr>
          <a:xfrm>
            <a:off x="6939000" y="1506602"/>
            <a:ext cx="219205" cy="125260"/>
          </a:xfrm>
          <a:prstGeom prst="rightArrow">
            <a:avLst/>
          </a:prstGeom>
          <a:solidFill>
            <a:srgbClr val="BF2D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DC9048F-57A5-A520-7D7D-B587F1897080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1174858" cy="1342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00000"/>
                </a:solidFill>
                <a:latin typeface="Aptos Display"/>
              </a:rPr>
              <a:t>Large Scale Classification &amp; Consistency</a:t>
            </a:r>
            <a:endParaRPr lang="en-US">
              <a:latin typeface="Aptos Display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BEB3FA-4402-0766-DA38-53608393F792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987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570EB6-A900-FF56-2884-611E61B59DB0}"/>
              </a:ext>
            </a:extLst>
          </p:cNvPr>
          <p:cNvSpPr txBox="1"/>
          <p:nvPr/>
        </p:nvSpPr>
        <p:spPr>
          <a:xfrm>
            <a:off x="736202" y="3952350"/>
            <a:ext cx="40836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Why is </a:t>
            </a:r>
            <a:r>
              <a:rPr lang="en-US" err="1"/>
              <a:t>VarIoT</a:t>
            </a:r>
            <a:r>
              <a:rPr lang="en-US"/>
              <a:t> so large?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AC3D07-2F03-0CAE-8B5E-0899AE8EB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279054"/>
              </p:ext>
            </p:extLst>
          </p:nvPr>
        </p:nvGraphicFramePr>
        <p:xfrm>
          <a:off x="738522" y="1712539"/>
          <a:ext cx="5060019" cy="1238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908">
                  <a:extLst>
                    <a:ext uri="{9D8B030D-6E8A-4147-A177-3AD203B41FA5}">
                      <a16:colId xmlns:a16="http://schemas.microsoft.com/office/drawing/2014/main" val="3094052614"/>
                    </a:ext>
                  </a:extLst>
                </a:gridCol>
                <a:gridCol w="1121595">
                  <a:extLst>
                    <a:ext uri="{9D8B030D-6E8A-4147-A177-3AD203B41FA5}">
                      <a16:colId xmlns:a16="http://schemas.microsoft.com/office/drawing/2014/main" val="3145549419"/>
                    </a:ext>
                  </a:extLst>
                </a:gridCol>
                <a:gridCol w="2842516">
                  <a:extLst>
                    <a:ext uri="{9D8B030D-6E8A-4147-A177-3AD203B41FA5}">
                      <a16:colId xmlns:a16="http://schemas.microsoft.com/office/drawing/2014/main" val="1400808601"/>
                    </a:ext>
                  </a:extLst>
                </a:gridCol>
              </a:tblGrid>
              <a:tr h="310176">
                <a:tc>
                  <a:txBody>
                    <a:bodyPr/>
                    <a:lstStyle/>
                    <a:p>
                      <a:r>
                        <a:rPr lang="en-US" sz="1400"/>
                        <a:t>Dataset</a:t>
                      </a:r>
                    </a:p>
                  </a:txBody>
                  <a:tcPr>
                    <a:solidFill>
                      <a:srgbClr val="BF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# IoT CVEs</a:t>
                      </a:r>
                    </a:p>
                  </a:txBody>
                  <a:tcPr>
                    <a:solidFill>
                      <a:srgbClr val="BF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Methodology</a:t>
                      </a:r>
                    </a:p>
                  </a:txBody>
                  <a:tcPr>
                    <a:solidFill>
                      <a:srgbClr val="BF4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837526"/>
                  </a:ext>
                </a:extLst>
              </a:tr>
              <a:tr h="310176">
                <a:tc>
                  <a:txBody>
                    <a:bodyPr/>
                    <a:lstStyle/>
                    <a:p>
                      <a:r>
                        <a:rPr lang="en-US" sz="1400" err="1"/>
                        <a:t>VarIoT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33,103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Keyword filtering (multi-level)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80818"/>
                  </a:ext>
                </a:extLst>
              </a:tr>
              <a:tr h="3101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Chen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1,619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Keyword filtering + manual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343878"/>
                  </a:ext>
                </a:extLst>
              </a:tr>
              <a:tr h="30822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err="1"/>
                        <a:t>LLIoT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15,066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LLM assisted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8312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C189DC8-5742-32CF-1E2B-1FE450CE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4521871"/>
            <a:ext cx="11633200" cy="1563298"/>
          </a:xfrm>
          <a:prstGeom prst="rect">
            <a:avLst/>
          </a:prstGeom>
        </p:spPr>
      </p:pic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B8C63667-E37D-A934-E5C6-4C4BE7C1B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62"/>
          <a:stretch>
            <a:fillRect/>
          </a:stretch>
        </p:blipFill>
        <p:spPr>
          <a:xfrm>
            <a:off x="6985721" y="1232762"/>
            <a:ext cx="2959732" cy="327941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6CF3ED2-D174-E7C1-089F-55C41DC12EFE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1174858" cy="1342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</a:rPr>
              <a:t>Dataset Comparison and Quality Validation</a:t>
            </a:r>
            <a:r>
              <a:rPr lang="en-US" sz="4400" b="0" i="0">
                <a:latin typeface="Aptos Display"/>
              </a:rPr>
              <a:t>​</a:t>
            </a:r>
            <a:endParaRPr lang="en-US">
              <a:latin typeface="Aptos Displa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95F5AF-C636-7926-CE7A-0EAB19C077CC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21ED95-77C3-A42B-27AA-AAEDD9E3F2C4}"/>
              </a:ext>
            </a:extLst>
          </p:cNvPr>
          <p:cNvSpPr txBox="1"/>
          <p:nvPr/>
        </p:nvSpPr>
        <p:spPr>
          <a:xfrm>
            <a:off x="406400" y="6215145"/>
            <a:ext cx="1094462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Janiszewski et al., "Automatic actionable information processing and trust management towards safer Internet of Things", Sensors, 2021</a:t>
            </a:r>
          </a:p>
          <a:p>
            <a:r>
              <a:rPr lang="en-US" sz="1400" dirty="0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Chen et al., "An empirical study of high-risk vulnerabilities in IoT systems", IEEE Internet of Things Journal, 2024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49000"/>
                </a:schemeClr>
              </a:solidFill>
              <a:latin typeface="IBM Plex Mono"/>
            </a:endParaRPr>
          </a:p>
          <a:p>
            <a:pPr algn="ctr"/>
            <a:endParaRPr lang="en-US" sz="1400" dirty="0">
              <a:solidFill>
                <a:schemeClr val="bg2">
                  <a:lumMod val="49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19879B-ECF6-3F3D-3FBE-156B0DBB3180}"/>
              </a:ext>
            </a:extLst>
          </p:cNvPr>
          <p:cNvCxnSpPr/>
          <p:nvPr/>
        </p:nvCxnSpPr>
        <p:spPr>
          <a:xfrm>
            <a:off x="487680" y="6217920"/>
            <a:ext cx="4978400" cy="101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02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3539-B57C-667D-7B50-BAF11E75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B4D7BD-E070-ED07-788A-4D81CC171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-262"/>
          <a:stretch>
            <a:fillRect/>
          </a:stretch>
        </p:blipFill>
        <p:spPr>
          <a:xfrm>
            <a:off x="6985721" y="1232762"/>
            <a:ext cx="2959732" cy="32794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E3767F-7D0D-6315-2538-FDC6FA55A570}"/>
              </a:ext>
            </a:extLst>
          </p:cNvPr>
          <p:cNvSpPr txBox="1"/>
          <p:nvPr/>
        </p:nvSpPr>
        <p:spPr>
          <a:xfrm>
            <a:off x="736202" y="3952350"/>
            <a:ext cx="40836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Why is </a:t>
            </a:r>
            <a:r>
              <a:rPr lang="en-US" err="1"/>
              <a:t>VarIoT</a:t>
            </a:r>
            <a:r>
              <a:rPr lang="en-US"/>
              <a:t> so large?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2D249E-4B27-F22E-1769-5DD70EBCE61E}"/>
              </a:ext>
            </a:extLst>
          </p:cNvPr>
          <p:cNvGraphicFramePr>
            <a:graphicFrameLocks noGrp="1"/>
          </p:cNvGraphicFramePr>
          <p:nvPr/>
        </p:nvGraphicFramePr>
        <p:xfrm>
          <a:off x="738522" y="1712539"/>
          <a:ext cx="5060019" cy="1238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908">
                  <a:extLst>
                    <a:ext uri="{9D8B030D-6E8A-4147-A177-3AD203B41FA5}">
                      <a16:colId xmlns:a16="http://schemas.microsoft.com/office/drawing/2014/main" val="3094052614"/>
                    </a:ext>
                  </a:extLst>
                </a:gridCol>
                <a:gridCol w="1121595">
                  <a:extLst>
                    <a:ext uri="{9D8B030D-6E8A-4147-A177-3AD203B41FA5}">
                      <a16:colId xmlns:a16="http://schemas.microsoft.com/office/drawing/2014/main" val="3145549419"/>
                    </a:ext>
                  </a:extLst>
                </a:gridCol>
                <a:gridCol w="2842516">
                  <a:extLst>
                    <a:ext uri="{9D8B030D-6E8A-4147-A177-3AD203B41FA5}">
                      <a16:colId xmlns:a16="http://schemas.microsoft.com/office/drawing/2014/main" val="1400808601"/>
                    </a:ext>
                  </a:extLst>
                </a:gridCol>
              </a:tblGrid>
              <a:tr h="310176">
                <a:tc>
                  <a:txBody>
                    <a:bodyPr/>
                    <a:lstStyle/>
                    <a:p>
                      <a:r>
                        <a:rPr lang="en-US" sz="1400"/>
                        <a:t>Dataset</a:t>
                      </a:r>
                    </a:p>
                  </a:txBody>
                  <a:tcPr>
                    <a:solidFill>
                      <a:srgbClr val="BF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# IoT CVEs</a:t>
                      </a:r>
                    </a:p>
                  </a:txBody>
                  <a:tcPr>
                    <a:solidFill>
                      <a:srgbClr val="BF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Methodology</a:t>
                      </a:r>
                    </a:p>
                  </a:txBody>
                  <a:tcPr>
                    <a:solidFill>
                      <a:srgbClr val="BF4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837526"/>
                  </a:ext>
                </a:extLst>
              </a:tr>
              <a:tr h="310176">
                <a:tc>
                  <a:txBody>
                    <a:bodyPr/>
                    <a:lstStyle/>
                    <a:p>
                      <a:r>
                        <a:rPr lang="en-US" sz="1400" err="1"/>
                        <a:t>VarIoT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33,103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Keyword filtering (multi-level)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80818"/>
                  </a:ext>
                </a:extLst>
              </a:tr>
              <a:tr h="3101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Chen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1,619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Keyword filtering + manual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343878"/>
                  </a:ext>
                </a:extLst>
              </a:tr>
              <a:tr h="30822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err="1"/>
                        <a:t>LLIoT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15,066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LLM assisted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83124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1BE0FC96-65BF-16EF-21CF-0138C2BFB94E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1174858" cy="1342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</a:rPr>
              <a:t>Dataset Comparison and Quality Validation</a:t>
            </a:r>
            <a:r>
              <a:rPr lang="en-US" sz="4400" b="0" i="0">
                <a:latin typeface="Aptos Display"/>
              </a:rPr>
              <a:t>​</a:t>
            </a:r>
            <a:endParaRPr lang="en-US">
              <a:latin typeface="Aptos Display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C1033-FAFC-2531-0B5A-24580CEC5FC2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073200-7250-6285-009B-1DFA2E8DA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4521871"/>
            <a:ext cx="11633200" cy="15632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92418C-FB2D-6BFE-B9EE-B7682EF559DE}"/>
              </a:ext>
            </a:extLst>
          </p:cNvPr>
          <p:cNvSpPr txBox="1"/>
          <p:nvPr/>
        </p:nvSpPr>
        <p:spPr>
          <a:xfrm>
            <a:off x="406400" y="6215145"/>
            <a:ext cx="1094462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Janiszewski et al., "Automatic actionable information processing and trust management towards safer Internet of Things", Sensors, 2021</a:t>
            </a:r>
          </a:p>
          <a:p>
            <a:r>
              <a:rPr lang="en-US" sz="1400" dirty="0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Chen et al., "An empirical study of high-risk vulnerabilities in IoT systems", IEEE Internet of Things Journal, 2024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49000"/>
                </a:schemeClr>
              </a:solidFill>
              <a:latin typeface="IBM Plex Mono"/>
            </a:endParaRPr>
          </a:p>
          <a:p>
            <a:pPr algn="ctr"/>
            <a:endParaRPr lang="en-US" sz="1400" dirty="0">
              <a:solidFill>
                <a:schemeClr val="bg2">
                  <a:lumMod val="49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96F3F1-AA1A-0047-8C58-068EFC942CC4}"/>
              </a:ext>
            </a:extLst>
          </p:cNvPr>
          <p:cNvCxnSpPr/>
          <p:nvPr/>
        </p:nvCxnSpPr>
        <p:spPr>
          <a:xfrm>
            <a:off x="487680" y="6217920"/>
            <a:ext cx="4978400" cy="101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C38D5D7-52D7-7D35-4C69-4102D58A88E7}"/>
              </a:ext>
            </a:extLst>
          </p:cNvPr>
          <p:cNvSpPr>
            <a:spLocks/>
          </p:cNvSpPr>
          <p:nvPr/>
        </p:nvSpPr>
        <p:spPr>
          <a:xfrm>
            <a:off x="1799461" y="4642207"/>
            <a:ext cx="984606" cy="132707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6CC0AC-F22F-D157-693B-4781BBDEC167}"/>
              </a:ext>
            </a:extLst>
          </p:cNvPr>
          <p:cNvSpPr>
            <a:spLocks/>
          </p:cNvSpPr>
          <p:nvPr/>
        </p:nvSpPr>
        <p:spPr>
          <a:xfrm>
            <a:off x="9734698" y="4642207"/>
            <a:ext cx="984606" cy="132707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7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D1DD-420A-7B62-AD57-D5B132FBC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632065-DA72-8F4A-DC24-C7A3B103C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40" y="125666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Manual verification of 100 samples per dataset</a:t>
            </a:r>
          </a:p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40D242-10B6-43D9-077C-45F9E7C710A9}"/>
              </a:ext>
            </a:extLst>
          </p:cNvPr>
          <p:cNvSpPr/>
          <p:nvPr/>
        </p:nvSpPr>
        <p:spPr>
          <a:xfrm>
            <a:off x="758461" y="1918756"/>
            <a:ext cx="3394011" cy="4416174"/>
          </a:xfrm>
          <a:prstGeom prst="rect">
            <a:avLst/>
          </a:prstGeom>
          <a:solidFill>
            <a:schemeClr val="bg1"/>
          </a:solidFill>
          <a:ln>
            <a:solidFill>
              <a:srgbClr val="BF47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BD83E-682C-F193-F9E9-6350A139E831}"/>
              </a:ext>
            </a:extLst>
          </p:cNvPr>
          <p:cNvSpPr txBox="1"/>
          <p:nvPr/>
        </p:nvSpPr>
        <p:spPr>
          <a:xfrm>
            <a:off x="826956" y="2488627"/>
            <a:ext cx="331272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43 network devices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21 chipsets and OSes (iOS, macOS, tvOS)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36 Non-IoT (</a:t>
            </a:r>
            <a:r>
              <a:rPr lang="en-US">
                <a:ea typeface="+mn-lt"/>
                <a:cs typeface="+mn-lt"/>
              </a:rPr>
              <a:t>Google Chrome, WordPress plugins, Perl, Adobe Flash Player, Safari )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>
                <a:ea typeface="+mn-lt"/>
                <a:cs typeface="+mn-lt"/>
              </a:rPr>
              <a:t>Keyword search: 671 Adobe Flash. 801 Safari. 62 WordPress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A7787-07FD-E7F5-A89F-8ECA291B0D66}"/>
              </a:ext>
            </a:extLst>
          </p:cNvPr>
          <p:cNvSpPr/>
          <p:nvPr/>
        </p:nvSpPr>
        <p:spPr>
          <a:xfrm>
            <a:off x="4372097" y="1925441"/>
            <a:ext cx="3384270" cy="443705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8C17C5-F223-039A-467C-98E446097A44}"/>
              </a:ext>
            </a:extLst>
          </p:cNvPr>
          <p:cNvSpPr/>
          <p:nvPr/>
        </p:nvSpPr>
        <p:spPr>
          <a:xfrm>
            <a:off x="7961673" y="1927317"/>
            <a:ext cx="3485451" cy="4437523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0F191F-7339-630B-3638-6949734C47A2}"/>
              </a:ext>
            </a:extLst>
          </p:cNvPr>
          <p:cNvSpPr txBox="1"/>
          <p:nvPr/>
        </p:nvSpPr>
        <p:spPr>
          <a:xfrm>
            <a:off x="4432500" y="2489768"/>
            <a:ext cx="325176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13 network devices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59 chipsets and various Android and Linux drivers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28 Non-IoT (</a:t>
            </a:r>
            <a:r>
              <a:rPr lang="en-US">
                <a:ea typeface="+mn-lt"/>
                <a:cs typeface="+mn-lt"/>
              </a:rPr>
              <a:t>Windows, wired speakers, desktop and non-IoT web apps )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6CC447-D245-3D0C-7A9B-C847E53B956E}"/>
              </a:ext>
            </a:extLst>
          </p:cNvPr>
          <p:cNvSpPr txBox="1"/>
          <p:nvPr/>
        </p:nvSpPr>
        <p:spPr>
          <a:xfrm>
            <a:off x="7986537" y="2449232"/>
            <a:ext cx="348544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22 IoT consumer devices (cameras, </a:t>
            </a:r>
            <a:r>
              <a:rPr lang="en-US" dirty="0">
                <a:ea typeface="+mn-lt"/>
                <a:cs typeface="+mn-lt"/>
              </a:rPr>
              <a:t>infusion pump, smart lock, printer, drone, </a:t>
            </a:r>
            <a:r>
              <a:rPr lang="en-US" dirty="0" err="1">
                <a:ea typeface="+mn-lt"/>
                <a:cs typeface="+mn-lt"/>
              </a:rPr>
              <a:t>smartTV</a:t>
            </a:r>
            <a:r>
              <a:rPr lang="en-US" dirty="0">
                <a:ea typeface="+mn-lt"/>
                <a:cs typeface="+mn-lt"/>
              </a:rPr>
              <a:t>, wearable)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9 chipsets and 64</a:t>
            </a:r>
            <a:r>
              <a:rPr lang="en-US" dirty="0">
                <a:ea typeface="+mn-lt"/>
                <a:cs typeface="+mn-lt"/>
              </a:rPr>
              <a:t> (EV charging station, building automations, industrial controller, IoT SDK, communication stack)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4 Non-IoT (</a:t>
            </a:r>
            <a:r>
              <a:rPr lang="en-US" dirty="0">
                <a:ea typeface="+mn-lt"/>
                <a:cs typeface="+mn-lt"/>
              </a:rPr>
              <a:t>PLC engineering software, robotics simulation software, and web management software)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6339F-4FC4-3E2E-723A-77C61F3EDD58}"/>
              </a:ext>
            </a:extLst>
          </p:cNvPr>
          <p:cNvSpPr/>
          <p:nvPr/>
        </p:nvSpPr>
        <p:spPr>
          <a:xfrm>
            <a:off x="772438" y="1910218"/>
            <a:ext cx="3361150" cy="501041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VarIoT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7D7DD-0613-BFBA-7248-29E2D8FEEA41}"/>
              </a:ext>
            </a:extLst>
          </p:cNvPr>
          <p:cNvSpPr/>
          <p:nvPr/>
        </p:nvSpPr>
        <p:spPr>
          <a:xfrm>
            <a:off x="4373671" y="1920656"/>
            <a:ext cx="3361150" cy="50104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Chen et 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18A09D-6CA3-351D-B0AF-5B716B719FBB}"/>
              </a:ext>
            </a:extLst>
          </p:cNvPr>
          <p:cNvSpPr/>
          <p:nvPr/>
        </p:nvSpPr>
        <p:spPr>
          <a:xfrm>
            <a:off x="7954027" y="1920656"/>
            <a:ext cx="3475971" cy="50104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/>
              <a:t>LLIoT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53FC32-39FA-E2DD-236A-C05AC6BA4DBC}"/>
              </a:ext>
            </a:extLst>
          </p:cNvPr>
          <p:cNvSpPr txBox="1">
            <a:spLocks/>
          </p:cNvSpPr>
          <p:nvPr/>
        </p:nvSpPr>
        <p:spPr>
          <a:xfrm>
            <a:off x="343023" y="-3028"/>
            <a:ext cx="11174858" cy="1342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</a:rPr>
              <a:t>Dataset Comparison and Quality Validation</a:t>
            </a:r>
            <a:r>
              <a:rPr lang="en-US" sz="4400" b="0" i="0">
                <a:latin typeface="Aptos Display"/>
              </a:rPr>
              <a:t>​</a:t>
            </a:r>
            <a:endParaRPr lang="en-US">
              <a:latin typeface="Aptos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9E78B-5FD1-11EB-F0EF-59A207CA0160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4783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E623-7B36-595E-4F76-B7472895D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5111-3B6B-9F2E-6F40-044E3470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/>
              <a:t>Phase 3: </a:t>
            </a:r>
            <a:r>
              <a:rPr lang="en-US">
                <a:ea typeface="+mj-lt"/>
                <a:cs typeface="+mj-lt"/>
              </a:rPr>
              <a:t>IoT vs non-IoT characterization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225828-7541-29A2-D31D-5379397B67BC}"/>
              </a:ext>
            </a:extLst>
          </p:cNvPr>
          <p:cNvSpPr/>
          <p:nvPr/>
        </p:nvSpPr>
        <p:spPr>
          <a:xfrm>
            <a:off x="4320322" y="2153970"/>
            <a:ext cx="3370422" cy="3660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6D88D-BBE6-8ED4-01BD-81F2C3FF00CF}"/>
              </a:ext>
            </a:extLst>
          </p:cNvPr>
          <p:cNvSpPr txBox="1"/>
          <p:nvPr/>
        </p:nvSpPr>
        <p:spPr>
          <a:xfrm>
            <a:off x="4359425" y="2164326"/>
            <a:ext cx="3302366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Phase 2: Large scale classification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51084-0929-2647-5AD0-D9F3C34D39A7}"/>
              </a:ext>
            </a:extLst>
          </p:cNvPr>
          <p:cNvSpPr txBox="1"/>
          <p:nvPr/>
        </p:nvSpPr>
        <p:spPr>
          <a:xfrm>
            <a:off x="4507418" y="2688065"/>
            <a:ext cx="322979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Apply best-performing LLM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Classify all 225k CVEs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Consistency analysis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Comparison with prior datasets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Manual verification</a:t>
            </a:r>
          </a:p>
          <a:p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17F2A-336A-0A31-F29D-EC010D6F4133}"/>
              </a:ext>
            </a:extLst>
          </p:cNvPr>
          <p:cNvSpPr/>
          <p:nvPr/>
        </p:nvSpPr>
        <p:spPr>
          <a:xfrm>
            <a:off x="4323706" y="2162708"/>
            <a:ext cx="3364787" cy="356170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87B5BD-5A56-05C9-2D0F-9F64AEB25CA9}"/>
              </a:ext>
            </a:extLst>
          </p:cNvPr>
          <p:cNvSpPr/>
          <p:nvPr/>
        </p:nvSpPr>
        <p:spPr>
          <a:xfrm>
            <a:off x="505145" y="2162709"/>
            <a:ext cx="3424719" cy="35788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8FA430-1881-C2DF-7275-D8B09AFD5867}"/>
              </a:ext>
            </a:extLst>
          </p:cNvPr>
          <p:cNvSpPr/>
          <p:nvPr/>
        </p:nvSpPr>
        <p:spPr>
          <a:xfrm>
            <a:off x="518264" y="2163099"/>
            <a:ext cx="3398644" cy="3377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7C04FC-4F58-343E-FA57-D1DEA4AEE7E7}"/>
              </a:ext>
            </a:extLst>
          </p:cNvPr>
          <p:cNvSpPr txBox="1"/>
          <p:nvPr/>
        </p:nvSpPr>
        <p:spPr>
          <a:xfrm>
            <a:off x="613805" y="2158200"/>
            <a:ext cx="331600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Phase 1: Ground-truth &amp; validation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FF326D-1123-E198-98F4-B0D65642375F}"/>
              </a:ext>
            </a:extLst>
          </p:cNvPr>
          <p:cNvSpPr txBox="1"/>
          <p:nvPr/>
        </p:nvSpPr>
        <p:spPr>
          <a:xfrm>
            <a:off x="610608" y="2688066"/>
            <a:ext cx="322979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Define IoT taxonomy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Create keyword dictionaries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Filter CVEs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Manual review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>
                    <a:lumMod val="25000"/>
                  </a:schemeClr>
                </a:solidFill>
              </a:rPr>
              <a:t>Validate LLMs and human</a:t>
            </a:r>
          </a:p>
          <a:p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3584F-0CDB-FEAD-3544-74A493405485}"/>
              </a:ext>
            </a:extLst>
          </p:cNvPr>
          <p:cNvSpPr/>
          <p:nvPr/>
        </p:nvSpPr>
        <p:spPr>
          <a:xfrm>
            <a:off x="8064089" y="2164937"/>
            <a:ext cx="3362535" cy="337799"/>
          </a:xfrm>
          <a:prstGeom prst="rect">
            <a:avLst/>
          </a:prstGeom>
          <a:solidFill>
            <a:srgbClr val="D4464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C1A4F-27D9-7858-4E3A-8BC7A979C966}"/>
              </a:ext>
            </a:extLst>
          </p:cNvPr>
          <p:cNvSpPr txBox="1"/>
          <p:nvPr/>
        </p:nvSpPr>
        <p:spPr>
          <a:xfrm>
            <a:off x="8314092" y="2147303"/>
            <a:ext cx="284742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Phase 3: Characterization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2487BE-DB5D-00AC-2AF3-9C0BEB118BE7}"/>
              </a:ext>
            </a:extLst>
          </p:cNvPr>
          <p:cNvSpPr txBox="1"/>
          <p:nvPr/>
        </p:nvSpPr>
        <p:spPr>
          <a:xfrm>
            <a:off x="8201671" y="2688066"/>
            <a:ext cx="322979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Temporal trends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Severity analysis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Weakness families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Actionable recommendations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CD8147-6BE1-5312-79E7-88E32F5D8785}"/>
              </a:ext>
            </a:extLst>
          </p:cNvPr>
          <p:cNvSpPr/>
          <p:nvPr/>
        </p:nvSpPr>
        <p:spPr>
          <a:xfrm>
            <a:off x="8065210" y="2145584"/>
            <a:ext cx="3364788" cy="3595954"/>
          </a:xfrm>
          <a:prstGeom prst="rect">
            <a:avLst/>
          </a:prstGeom>
          <a:noFill/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36E23-0D28-C865-4C2D-A8560ACDAEA5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9509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2005BD2-A0D5-90BF-AF18-02EC50579D56}"/>
              </a:ext>
            </a:extLst>
          </p:cNvPr>
          <p:cNvSpPr/>
          <p:nvPr/>
        </p:nvSpPr>
        <p:spPr>
          <a:xfrm>
            <a:off x="8250198" y="3830041"/>
            <a:ext cx="3586479" cy="1174664"/>
          </a:xfrm>
          <a:prstGeom prst="rect">
            <a:avLst/>
          </a:prstGeom>
          <a:solidFill>
            <a:srgbClr val="E8F2F8"/>
          </a:solidFill>
          <a:ln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20A83-EBFE-BA84-0C9E-FE0717C0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IoT CVE Temporal Trends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911E22-9F79-8E1C-22F0-320A8FE0F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888" y="2228769"/>
            <a:ext cx="7335718" cy="3406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3ED02A-2776-3F36-F5BA-738ED5C13641}"/>
              </a:ext>
            </a:extLst>
          </p:cNvPr>
          <p:cNvSpPr txBox="1"/>
          <p:nvPr/>
        </p:nvSpPr>
        <p:spPr>
          <a:xfrm>
            <a:off x="8249640" y="3924543"/>
            <a:ext cx="37781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Steep rise in IoT 2016 -&gt; 2017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Mirai botnet in 2016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CNA program expansion in 2016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604D40-81D0-03A4-9E98-9C5B152469C8}"/>
              </a:ext>
            </a:extLst>
          </p:cNvPr>
          <p:cNvSpPr txBox="1"/>
          <p:nvPr/>
        </p:nvSpPr>
        <p:spPr>
          <a:xfrm>
            <a:off x="6604000" y="2245360"/>
            <a:ext cx="6400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chemeClr val="accent1">
                    <a:lumMod val="49000"/>
                  </a:schemeClr>
                </a:solidFill>
              </a:rPr>
              <a:t>35k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32D4B-7271-B770-71ED-2D63027C8C11}"/>
              </a:ext>
            </a:extLst>
          </p:cNvPr>
          <p:cNvSpPr txBox="1"/>
          <p:nvPr/>
        </p:nvSpPr>
        <p:spPr>
          <a:xfrm>
            <a:off x="1148079" y="4714239"/>
            <a:ext cx="6400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</a:rPr>
              <a:t>300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BF22F-DB52-7B39-7C4E-7F22686FB003}"/>
              </a:ext>
            </a:extLst>
          </p:cNvPr>
          <p:cNvSpPr txBox="1"/>
          <p:nvPr/>
        </p:nvSpPr>
        <p:spPr>
          <a:xfrm>
            <a:off x="6339839" y="4521199"/>
            <a:ext cx="9042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</a:rPr>
              <a:t>2200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2A3C1-3F9C-6812-0EA0-AC3D71F2EC92}"/>
              </a:ext>
            </a:extLst>
          </p:cNvPr>
          <p:cNvSpPr txBox="1"/>
          <p:nvPr/>
        </p:nvSpPr>
        <p:spPr>
          <a:xfrm>
            <a:off x="1391919" y="4317999"/>
            <a:ext cx="7924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chemeClr val="accent1">
                    <a:lumMod val="49000"/>
                  </a:schemeClr>
                </a:solidFill>
              </a:rPr>
              <a:t>5900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F5EC03-D2CD-7490-67B1-6EB9D3057B78}"/>
              </a:ext>
            </a:extLst>
          </p:cNvPr>
          <p:cNvCxnSpPr/>
          <p:nvPr/>
        </p:nvCxnSpPr>
        <p:spPr>
          <a:xfrm>
            <a:off x="3088640" y="3982720"/>
            <a:ext cx="243840" cy="2438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B6745A6-A347-7C88-E2B8-B3A50A093E7B}"/>
              </a:ext>
            </a:extLst>
          </p:cNvPr>
          <p:cNvSpPr/>
          <p:nvPr/>
        </p:nvSpPr>
        <p:spPr>
          <a:xfrm>
            <a:off x="8250198" y="2483491"/>
            <a:ext cx="3586479" cy="1174664"/>
          </a:xfrm>
          <a:prstGeom prst="rect">
            <a:avLst/>
          </a:prstGeom>
          <a:solidFill>
            <a:srgbClr val="E8F2F8"/>
          </a:solidFill>
          <a:ln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5B5745-E56A-922A-4AC9-84B6237C0BF2}"/>
              </a:ext>
            </a:extLst>
          </p:cNvPr>
          <p:cNvSpPr txBox="1"/>
          <p:nvPr/>
        </p:nvSpPr>
        <p:spPr>
          <a:xfrm>
            <a:off x="8401763" y="2632414"/>
            <a:ext cx="27766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8.5× IoT growth vs 2013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819F06-11B7-3FDC-4D59-0AAA7E6DFBC5}"/>
              </a:ext>
            </a:extLst>
          </p:cNvPr>
          <p:cNvSpPr txBox="1"/>
          <p:nvPr/>
        </p:nvSpPr>
        <p:spPr>
          <a:xfrm>
            <a:off x="8401762" y="2997755"/>
            <a:ext cx="27766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6× Non-IoT growth vs 2013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43DD2-1FE3-37AD-85D2-E8B1B9CAC001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150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6" grpId="0"/>
      <p:bldP spid="7" grpId="0"/>
      <p:bldP spid="9" grpId="0"/>
      <p:bldP spid="10" grpId="0"/>
      <p:bldP spid="3" grpId="0" animBg="1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64D4-1C59-6A23-2165-021B6E3B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32" y="-217"/>
            <a:ext cx="10515600" cy="1325563"/>
          </a:xfrm>
        </p:spPr>
        <p:txBody>
          <a:bodyPr/>
          <a:lstStyle/>
          <a:p>
            <a:r>
              <a:rPr lang="en-US"/>
              <a:t>Severity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40630B-C03A-AE60-1BA4-6523A60D7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137" y="1072349"/>
            <a:ext cx="5107916" cy="3159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201FD-AAE3-8574-6F74-4EA30F805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285" y="1068010"/>
            <a:ext cx="5199364" cy="3232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9124B0-5F73-91AF-C397-5F237F5A17A7}"/>
              </a:ext>
            </a:extLst>
          </p:cNvPr>
          <p:cNvSpPr txBox="1"/>
          <p:nvPr/>
        </p:nvSpPr>
        <p:spPr>
          <a:xfrm>
            <a:off x="2025041" y="4817301"/>
            <a:ext cx="8507260" cy="15774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00B050"/>
                </a:solidFill>
                <a:ea typeface="+mn-lt"/>
                <a:cs typeface="+mn-lt"/>
              </a:rPr>
              <a:t>IoT holding higher severity than Non-IoT</a:t>
            </a:r>
            <a:endParaRPr lang="en-US">
              <a:solidFill>
                <a:srgbClr val="00B050"/>
              </a:solidFill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00B050"/>
                </a:solidFill>
                <a:ea typeface="+mn-lt"/>
                <a:cs typeface="+mn-lt"/>
              </a:rPr>
              <a:t>Non-IoT shifting from high and critical towards medium level</a:t>
            </a:r>
            <a:endParaRPr lang="en-US" sz="2200">
              <a:solidFill>
                <a:srgbClr val="00B050"/>
              </a:solidFill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00B050"/>
                </a:solidFill>
                <a:ea typeface="+mn-lt"/>
                <a:cs typeface="+mn-lt"/>
              </a:rPr>
              <a:t>IoT vulnerabilities follow the same trend, but still far behind</a:t>
            </a:r>
            <a:endParaRPr lang="en-US" sz="220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51897-F0D6-3B35-6386-E3F2AE78E7E9}"/>
              </a:ext>
            </a:extLst>
          </p:cNvPr>
          <p:cNvSpPr txBox="1"/>
          <p:nvPr/>
        </p:nvSpPr>
        <p:spPr>
          <a:xfrm>
            <a:off x="2828794" y="4227533"/>
            <a:ext cx="11482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IoT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A9A14-8F4E-FA79-BC6C-5AFFCE33DBC0}"/>
              </a:ext>
            </a:extLst>
          </p:cNvPr>
          <p:cNvSpPr txBox="1"/>
          <p:nvPr/>
        </p:nvSpPr>
        <p:spPr>
          <a:xfrm>
            <a:off x="8455067" y="4227532"/>
            <a:ext cx="11482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Non-IoT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1ADA3-A92E-026A-1DC1-3A2F11432438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28640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210C9-DACB-8F88-9E75-40F9A4D1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EA2D0A92-C78E-3432-3CFE-7B83E2DA2484}"/>
              </a:ext>
            </a:extLst>
          </p:cNvPr>
          <p:cNvSpPr/>
          <p:nvPr/>
        </p:nvSpPr>
        <p:spPr>
          <a:xfrm>
            <a:off x="7305315" y="1082664"/>
            <a:ext cx="4047299" cy="441889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ED565E6-3CEE-6D89-A83D-14C249640763}"/>
              </a:ext>
            </a:extLst>
          </p:cNvPr>
          <p:cNvSpPr/>
          <p:nvPr/>
        </p:nvSpPr>
        <p:spPr>
          <a:xfrm>
            <a:off x="7305315" y="1519544"/>
            <a:ext cx="4047299" cy="3002209"/>
          </a:xfrm>
          <a:prstGeom prst="rect">
            <a:avLst/>
          </a:prstGeom>
          <a:solidFill>
            <a:srgbClr val="E8F2F8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5CCC05-2458-5C55-7A5D-89483F987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18" y="407"/>
            <a:ext cx="10515600" cy="1325563"/>
          </a:xfrm>
        </p:spPr>
        <p:txBody>
          <a:bodyPr/>
          <a:lstStyle/>
          <a:p>
            <a:r>
              <a:rPr lang="en-US"/>
              <a:t>Severity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B49E35-66AE-0220-5A84-2FA8645E5AFF}"/>
              </a:ext>
            </a:extLst>
          </p:cNvPr>
          <p:cNvSpPr txBox="1"/>
          <p:nvPr/>
        </p:nvSpPr>
        <p:spPr>
          <a:xfrm>
            <a:off x="349409" y="5143114"/>
            <a:ext cx="1148794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00B050"/>
                </a:solidFill>
              </a:rPr>
              <a:t>IoT vulnerabilities: lower-effort (no user interaction, no privilege), higher impact -&gt; higher severity score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927E85-7875-1762-9126-68C01B947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51" y="1078787"/>
            <a:ext cx="6181618" cy="37243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79E739-CA9F-19A6-ADA2-9F16C5900A4D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E9466D44-6DF2-DF83-95BE-03C6CEBA65D6}"/>
              </a:ext>
            </a:extLst>
          </p:cNvPr>
          <p:cNvSpPr/>
          <p:nvPr/>
        </p:nvSpPr>
        <p:spPr>
          <a:xfrm>
            <a:off x="7559040" y="1188720"/>
            <a:ext cx="36103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IoT vs non-IoT (pp)</a:t>
            </a:r>
            <a:endParaRPr lang="en-US" sz="14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22E9E78A-47CD-15E9-C276-F2E974993818}"/>
              </a:ext>
            </a:extLst>
          </p:cNvPr>
          <p:cNvSpPr/>
          <p:nvPr/>
        </p:nvSpPr>
        <p:spPr>
          <a:xfrm>
            <a:off x="7559040" y="1706878"/>
            <a:ext cx="965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C62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+20.3</a:t>
            </a:r>
            <a:endParaRPr lang="en-US" sz="24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155EEDBC-1163-90C0-A369-7FDC6AD5BFF5}"/>
              </a:ext>
            </a:extLst>
          </p:cNvPr>
          <p:cNvSpPr/>
          <p:nvPr/>
        </p:nvSpPr>
        <p:spPr>
          <a:xfrm>
            <a:off x="8575040" y="1847322"/>
            <a:ext cx="843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UI: None</a:t>
            </a:r>
            <a:endParaRPr lang="en-US" sz="13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FAB7891C-9259-47C1-93EF-66D239A77BDD}"/>
              </a:ext>
            </a:extLst>
          </p:cNvPr>
          <p:cNvSpPr/>
          <p:nvPr/>
        </p:nvSpPr>
        <p:spPr>
          <a:xfrm>
            <a:off x="7559040" y="2128520"/>
            <a:ext cx="361035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user interaction needed: autonomous, remotely triggerable</a:t>
            </a:r>
            <a:endParaRPr lang="en-US" sz="12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771B42BF-C440-8139-B0F5-FC48A389D805}"/>
              </a:ext>
            </a:extLst>
          </p:cNvPr>
          <p:cNvSpPr/>
          <p:nvPr/>
        </p:nvSpPr>
        <p:spPr>
          <a:xfrm>
            <a:off x="7559040" y="2717805"/>
            <a:ext cx="965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C62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+11.9</a:t>
            </a:r>
            <a:endParaRPr lang="en-US" sz="24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0E578BD9-9AB1-991D-A436-0B071411E51F}"/>
              </a:ext>
            </a:extLst>
          </p:cNvPr>
          <p:cNvSpPr/>
          <p:nvPr/>
        </p:nvSpPr>
        <p:spPr>
          <a:xfrm>
            <a:off x="8575040" y="2858237"/>
            <a:ext cx="843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PR: None</a:t>
            </a:r>
            <a:endParaRPr lang="en-US" sz="13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0A600B07-9DF4-AD03-DB57-B1D61C39C2A9}"/>
              </a:ext>
            </a:extLst>
          </p:cNvPr>
          <p:cNvSpPr/>
          <p:nvPr/>
        </p:nvSpPr>
        <p:spPr>
          <a:xfrm>
            <a:off x="7559040" y="3139435"/>
            <a:ext cx="361035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privileges needed: missing or single-role auth</a:t>
            </a:r>
            <a:endParaRPr lang="en-US" sz="12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9AA0E607-CC7B-11CC-22B4-7494F31DEC31}"/>
              </a:ext>
            </a:extLst>
          </p:cNvPr>
          <p:cNvSpPr/>
          <p:nvPr/>
        </p:nvSpPr>
        <p:spPr>
          <a:xfrm>
            <a:off x="7559040" y="3522978"/>
            <a:ext cx="169672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C62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+11 to 13</a:t>
            </a:r>
            <a:endParaRPr lang="en-US" sz="240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06A62116-AB07-4717-4809-6D8732D22C06}"/>
              </a:ext>
            </a:extLst>
          </p:cNvPr>
          <p:cNvSpPr/>
          <p:nvPr/>
        </p:nvSpPr>
        <p:spPr>
          <a:xfrm>
            <a:off x="9306560" y="3663422"/>
            <a:ext cx="15367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/ I / A: High</a:t>
            </a:r>
            <a:endParaRPr lang="en-US" sz="13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DD25F51E-384B-687B-2293-A7EC3A6E92DD}"/>
              </a:ext>
            </a:extLst>
          </p:cNvPr>
          <p:cNvSpPr/>
          <p:nvPr/>
        </p:nvSpPr>
        <p:spPr>
          <a:xfrm>
            <a:off x="7559040" y="3944620"/>
            <a:ext cx="361035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Few internal boundaries: one bug, whole device</a:t>
            </a:r>
            <a:endParaRPr 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3E518F-04E5-1F72-D343-E03881D40929}"/>
              </a:ext>
            </a:extLst>
          </p:cNvPr>
          <p:cNvSpPr txBox="1"/>
          <p:nvPr/>
        </p:nvSpPr>
        <p:spPr>
          <a:xfrm>
            <a:off x="528320" y="5892799"/>
            <a:ext cx="7264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209 IoT CVEs in </a:t>
            </a:r>
            <a:r>
              <a:rPr lang="en-US" dirty="0" err="1">
                <a:ea typeface="+mn-lt"/>
                <a:cs typeface="+mn-lt"/>
              </a:rPr>
              <a:t>VulnCheck</a:t>
            </a:r>
            <a:r>
              <a:rPr lang="en-US" dirty="0">
                <a:ea typeface="+mn-lt"/>
                <a:cs typeface="+mn-lt"/>
              </a:rPr>
              <a:t>  KEV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339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AAC73-1018-4F40-FDF4-5BB4AC0C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589D7C-8EF4-6411-3178-E87E867B7DC7}"/>
              </a:ext>
            </a:extLst>
          </p:cNvPr>
          <p:cNvSpPr/>
          <p:nvPr/>
        </p:nvSpPr>
        <p:spPr>
          <a:xfrm>
            <a:off x="6762916" y="1559781"/>
            <a:ext cx="5232399" cy="4389120"/>
          </a:xfrm>
          <a:prstGeom prst="rect">
            <a:avLst/>
          </a:prstGeom>
          <a:solidFill>
            <a:srgbClr val="E8F2F8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3230F-C5CA-EEEA-FB02-DD41547379CD}"/>
              </a:ext>
            </a:extLst>
          </p:cNvPr>
          <p:cNvSpPr txBox="1"/>
          <p:nvPr/>
        </p:nvSpPr>
        <p:spPr>
          <a:xfrm>
            <a:off x="6918517" y="2302853"/>
            <a:ext cx="4925790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1. Memory safety </a:t>
            </a:r>
          </a:p>
          <a:p>
            <a:r>
              <a:rPr lang="en-US" sz="1400">
                <a:solidFill>
                  <a:schemeClr val="bg2">
                    <a:lumMod val="49000"/>
                  </a:schemeClr>
                </a:solidFill>
              </a:rPr>
              <a:t>C language, poor memory protection in firmware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2. Web-centric weaknesses increasing in recent years (Input Validation, </a:t>
            </a:r>
            <a:r>
              <a:rPr lang="en-US"/>
              <a:t>XSS, Path Traversal , SQLi, CSRF)</a:t>
            </a:r>
          </a:p>
          <a:p>
            <a:r>
              <a:rPr lang="en-US" sz="1400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Growing use of web-based interfaces in IoT devices</a:t>
            </a:r>
          </a:p>
          <a:p>
            <a:r>
              <a:rPr lang="en-US" sz="1400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to provide user interaction and remote management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endParaRPr lang="en-US"/>
          </a:p>
          <a:p>
            <a:r>
              <a:rPr lang="en-US"/>
              <a:t>3. A</a:t>
            </a:r>
            <a:r>
              <a:rPr lang="en-US">
                <a:ea typeface="+mn-lt"/>
                <a:cs typeface="+mn-lt"/>
              </a:rPr>
              <a:t>uthentication issue (#9 improper authentication, #7 no authentication 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critical functions, and improper access control).</a:t>
            </a:r>
            <a:endParaRPr lang="en-US"/>
          </a:p>
          <a:p>
            <a:r>
              <a:rPr lang="en-US" sz="1400">
                <a:solidFill>
                  <a:schemeClr val="bg2">
                    <a:lumMod val="49000"/>
                  </a:schemeClr>
                </a:solidFill>
              </a:rPr>
              <a:t>Resource constraints and neglecting security practices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336AAA-7D7A-9C0B-9CBF-FF746A80BF31}"/>
              </a:ext>
            </a:extLst>
          </p:cNvPr>
          <p:cNvSpPr txBox="1">
            <a:spLocks/>
          </p:cNvSpPr>
          <p:nvPr/>
        </p:nvSpPr>
        <p:spPr>
          <a:xfrm>
            <a:off x="694918" y="407"/>
            <a:ext cx="109436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Weakness Family Analysis – CWE comparison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7A5C7-CB70-28AF-EC4F-E05D118D42B1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1E91B-FDED-C4A7-71F4-72370975142F}"/>
              </a:ext>
            </a:extLst>
          </p:cNvPr>
          <p:cNvSpPr/>
          <p:nvPr/>
        </p:nvSpPr>
        <p:spPr>
          <a:xfrm>
            <a:off x="6761312" y="1561975"/>
            <a:ext cx="5234064" cy="604802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IoT</a:t>
            </a: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EF65621E-4F46-4452-7097-78AAA93E1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2" y="1378365"/>
            <a:ext cx="6668424" cy="36224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151659-CBFA-5656-1F6E-22776E6AA043}"/>
              </a:ext>
            </a:extLst>
          </p:cNvPr>
          <p:cNvSpPr txBox="1"/>
          <p:nvPr/>
        </p:nvSpPr>
        <p:spPr>
          <a:xfrm>
            <a:off x="273977" y="5530920"/>
            <a:ext cx="5984696" cy="7106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B53B1-C954-339D-7880-3521AC3AD53F}"/>
              </a:ext>
            </a:extLst>
          </p:cNvPr>
          <p:cNvSpPr txBox="1"/>
          <p:nvPr/>
        </p:nvSpPr>
        <p:spPr>
          <a:xfrm>
            <a:off x="393842" y="5530921"/>
            <a:ext cx="577065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Memory safety issues:</a:t>
            </a:r>
            <a:r>
              <a:rPr lang="en-US" sz="1400"/>
              <a:t> </a:t>
            </a:r>
            <a:r>
              <a:rPr lang="en-US" sz="1400">
                <a:ea typeface="+mn-lt"/>
                <a:cs typeface="+mn-lt"/>
              </a:rPr>
              <a:t>OOB write (CWE-787), OOB read  (CWE-125), Stack-based buffer overflow (CWE-121), Use after free (CWE-416),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Integer overflow (CWE-190), NULL dereference (CWE-476),</a:t>
            </a:r>
          </a:p>
          <a:p>
            <a:r>
              <a:rPr lang="en-US" sz="1400">
                <a:ea typeface="+mn-lt"/>
                <a:cs typeface="+mn-lt"/>
              </a:rPr>
              <a:t>Buffer copy without checking size of input (CWE-120),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 Memory-bound (CWE-119)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50735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2A03A3-597E-BD9D-52CC-10BB4026FE3E}"/>
              </a:ext>
            </a:extLst>
          </p:cNvPr>
          <p:cNvSpPr/>
          <p:nvPr/>
        </p:nvSpPr>
        <p:spPr>
          <a:xfrm>
            <a:off x="6724374" y="1543546"/>
            <a:ext cx="5232399" cy="4389120"/>
          </a:xfrm>
          <a:prstGeom prst="rect">
            <a:avLst/>
          </a:prstGeom>
          <a:solidFill>
            <a:srgbClr val="E8F2F8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51F87-B5C6-C8BC-73C6-36135A8FAF73}"/>
              </a:ext>
            </a:extLst>
          </p:cNvPr>
          <p:cNvSpPr txBox="1"/>
          <p:nvPr/>
        </p:nvSpPr>
        <p:spPr>
          <a:xfrm>
            <a:off x="6862851" y="2461622"/>
            <a:ext cx="4949357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1. Web-centric weaknesses (XSS, </a:t>
            </a:r>
            <a:r>
              <a:rPr lang="en-US">
                <a:ea typeface="+mn-lt"/>
                <a:cs typeface="+mn-lt"/>
              </a:rPr>
              <a:t>SQLi, CSRF and Path Traversal,</a:t>
            </a:r>
            <a:r>
              <a:rPr lang="en-US"/>
              <a:t>)  </a:t>
            </a:r>
          </a:p>
          <a:p>
            <a:r>
              <a:rPr lang="en-US" sz="1400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The ubiquity of web applications and the impact of large-scale automated discovery 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2. Memory safety</a:t>
            </a:r>
            <a:endParaRPr lang="en-US"/>
          </a:p>
          <a:p>
            <a:endParaRPr lang="en-US"/>
          </a:p>
          <a:p>
            <a:r>
              <a:rPr lang="en-US"/>
              <a:t>3. Authorization</a:t>
            </a:r>
            <a:r>
              <a:rPr lang="en-US">
                <a:ea typeface="+mn-lt"/>
                <a:cs typeface="+mn-lt"/>
              </a:rPr>
              <a:t> issue 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r>
              <a:rPr lang="en-US" sz="1400">
                <a:solidFill>
                  <a:schemeClr val="bg2">
                    <a:lumMod val="49000"/>
                  </a:schemeClr>
                </a:solidFill>
              </a:rPr>
              <a:t>Multi-tenant architectures and access control mechanisms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00EC5E-C8A5-1CCA-ABC1-A0F4B8EDCDAC}"/>
              </a:ext>
            </a:extLst>
          </p:cNvPr>
          <p:cNvSpPr txBox="1">
            <a:spLocks/>
          </p:cNvSpPr>
          <p:nvPr/>
        </p:nvSpPr>
        <p:spPr>
          <a:xfrm>
            <a:off x="694918" y="407"/>
            <a:ext cx="109436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Weakness Family Analysis – CWE comparison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92B21-DFD2-CD5E-DF93-039F1A71CE49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145CA9-ECBD-2093-318A-8EE7E31E8E86}"/>
              </a:ext>
            </a:extLst>
          </p:cNvPr>
          <p:cNvSpPr/>
          <p:nvPr/>
        </p:nvSpPr>
        <p:spPr>
          <a:xfrm>
            <a:off x="6722770" y="1545740"/>
            <a:ext cx="5234064" cy="604802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Non-IoT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86B95D-10B9-7D73-5842-952E20200A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229"/>
          <a:stretch>
            <a:fillRect/>
          </a:stretch>
        </p:blipFill>
        <p:spPr>
          <a:xfrm>
            <a:off x="27582" y="1498862"/>
            <a:ext cx="6648450" cy="363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09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5508CD-B49A-13DA-9A8F-01948745332C}"/>
              </a:ext>
            </a:extLst>
          </p:cNvPr>
          <p:cNvSpPr/>
          <p:nvPr/>
        </p:nvSpPr>
        <p:spPr>
          <a:xfrm>
            <a:off x="6266648" y="4017108"/>
            <a:ext cx="4956589" cy="1977087"/>
          </a:xfrm>
          <a:prstGeom prst="rect">
            <a:avLst/>
          </a:prstGeom>
          <a:solidFill>
            <a:srgbClr val="E8F2F8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50A9D-3356-BDBD-4AE2-45FBCCB139EE}"/>
              </a:ext>
            </a:extLst>
          </p:cNvPr>
          <p:cNvSpPr/>
          <p:nvPr/>
        </p:nvSpPr>
        <p:spPr>
          <a:xfrm>
            <a:off x="6266649" y="1526861"/>
            <a:ext cx="4956589" cy="1895807"/>
          </a:xfrm>
          <a:prstGeom prst="rect">
            <a:avLst/>
          </a:prstGeom>
          <a:solidFill>
            <a:srgbClr val="E8F2F8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FDBF1E-5618-529E-4FD0-B3B61F190E84}"/>
              </a:ext>
            </a:extLst>
          </p:cNvPr>
          <p:cNvSpPr/>
          <p:nvPr/>
        </p:nvSpPr>
        <p:spPr>
          <a:xfrm>
            <a:off x="883210" y="4017108"/>
            <a:ext cx="4946429" cy="1977087"/>
          </a:xfrm>
          <a:prstGeom prst="rect">
            <a:avLst/>
          </a:prstGeom>
          <a:solidFill>
            <a:srgbClr val="E8F2F8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7684A7-79F0-3907-045E-B144B00E3208}"/>
              </a:ext>
            </a:extLst>
          </p:cNvPr>
          <p:cNvSpPr/>
          <p:nvPr/>
        </p:nvSpPr>
        <p:spPr>
          <a:xfrm>
            <a:off x="877659" y="1526861"/>
            <a:ext cx="4946429" cy="1895807"/>
          </a:xfrm>
          <a:prstGeom prst="rect">
            <a:avLst/>
          </a:prstGeom>
          <a:solidFill>
            <a:srgbClr val="E8F2F8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2BC0F-5B11-2DC1-7893-8DC24387E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64"/>
            <a:ext cx="10515600" cy="1325563"/>
          </a:xfrm>
        </p:spPr>
        <p:txBody>
          <a:bodyPr/>
          <a:lstStyle/>
          <a:p>
            <a:r>
              <a:rPr lang="en-US"/>
              <a:t>Actionable Recommendations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321452-7CA3-04A5-4892-23FC25DD2AD5}"/>
              </a:ext>
            </a:extLst>
          </p:cNvPr>
          <p:cNvSpPr/>
          <p:nvPr/>
        </p:nvSpPr>
        <p:spPr>
          <a:xfrm>
            <a:off x="872156" y="1526194"/>
            <a:ext cx="4949584" cy="574322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01E017-F601-E29C-B60F-2166A923256F}"/>
              </a:ext>
            </a:extLst>
          </p:cNvPr>
          <p:cNvSpPr txBox="1"/>
          <p:nvPr/>
        </p:nvSpPr>
        <p:spPr>
          <a:xfrm>
            <a:off x="1352862" y="1624299"/>
            <a:ext cx="39519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Kill the low hanging-fruit vulnerability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3D1552-70F3-7DBE-5070-15B81EBF3114}"/>
              </a:ext>
            </a:extLst>
          </p:cNvPr>
          <p:cNvSpPr txBox="1"/>
          <p:nvPr/>
        </p:nvSpPr>
        <p:spPr>
          <a:xfrm>
            <a:off x="871879" y="2318174"/>
            <a:ext cx="511725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Hard-coded credentials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Generate device-specific credentials during manufacturing.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Enforce mandatory credential change at first setup. </a:t>
            </a:r>
          </a:p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Provide secure physical reset mechanism.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5D7CB6-C02D-CEC7-502D-A5861B9D26E6}"/>
              </a:ext>
            </a:extLst>
          </p:cNvPr>
          <p:cNvSpPr/>
          <p:nvPr/>
        </p:nvSpPr>
        <p:spPr>
          <a:xfrm>
            <a:off x="6269561" y="1524642"/>
            <a:ext cx="4957439" cy="574322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4BC99A-AB10-489D-5B33-AAE7232992ED}"/>
              </a:ext>
            </a:extLst>
          </p:cNvPr>
          <p:cNvSpPr txBox="1"/>
          <p:nvPr/>
        </p:nvSpPr>
        <p:spPr>
          <a:xfrm>
            <a:off x="6771529" y="1614892"/>
            <a:ext cx="39519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Eliminate memory-safety issues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A83FF-7C3C-18C4-B6C8-FEE92EA5A346}"/>
              </a:ext>
            </a:extLst>
          </p:cNvPr>
          <p:cNvSpPr txBox="1"/>
          <p:nvPr/>
        </p:nvSpPr>
        <p:spPr>
          <a:xfrm>
            <a:off x="6270226" y="2318927"/>
            <a:ext cx="503597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Adopt memory-safe languages: Rust, Ada,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MicroPython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2">
                  <a:lumMod val="25000"/>
                </a:schemeClr>
              </a:solidFill>
              <a:ea typeface="+mn-lt"/>
              <a:cs typeface="+mn-lt"/>
            </a:endParaRPr>
          </a:p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Case study: Android → 76% memory bugs in 2019 → 24% in 2024.</a:t>
            </a:r>
            <a:endParaRPr lang="en-US" dirty="0">
              <a:solidFill>
                <a:schemeClr val="bg2">
                  <a:lumMod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EC21D9-F698-4211-C989-365928A69260}"/>
              </a:ext>
            </a:extLst>
          </p:cNvPr>
          <p:cNvSpPr/>
          <p:nvPr/>
        </p:nvSpPr>
        <p:spPr>
          <a:xfrm>
            <a:off x="877564" y="4016897"/>
            <a:ext cx="4957440" cy="542900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4CD094-C514-AE9F-EDC7-CDD40049855F}"/>
              </a:ext>
            </a:extLst>
          </p:cNvPr>
          <p:cNvSpPr txBox="1"/>
          <p:nvPr/>
        </p:nvSpPr>
        <p:spPr>
          <a:xfrm>
            <a:off x="1371677" y="4107854"/>
            <a:ext cx="39519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Prevent web-based  vulnerabilities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D83BD5-D48F-DD14-6C58-7A9EAF289D6D}"/>
              </a:ext>
            </a:extLst>
          </p:cNvPr>
          <p:cNvSpPr txBox="1"/>
          <p:nvPr/>
        </p:nvSpPr>
        <p:spPr>
          <a:xfrm>
            <a:off x="931334" y="4811889"/>
            <a:ext cx="47413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Block web management interfaces from WAN access.</a:t>
            </a:r>
            <a:endParaRPr lang="en-US" dirty="0">
              <a:solidFill>
                <a:schemeClr val="bg2">
                  <a:lumMod val="25000"/>
                </a:schemeClr>
              </a:solidFill>
              <a:ea typeface="+mn-lt"/>
              <a:cs typeface="+mn-lt"/>
            </a:endParaRPr>
          </a:p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Firewall rules for inbound traffic.</a:t>
            </a:r>
            <a:endParaRPr lang="en-US" dirty="0">
              <a:solidFill>
                <a:schemeClr val="bg2">
                  <a:lumMod val="25000"/>
                </a:schemeClr>
              </a:solidFill>
              <a:ea typeface="+mn-lt"/>
              <a:cs typeface="+mn-lt"/>
            </a:endParaRPr>
          </a:p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Use cloud-based remote management with strong authentication.</a:t>
            </a:r>
            <a:endParaRPr lang="en-US" dirty="0">
              <a:solidFill>
                <a:schemeClr val="bg2">
                  <a:lumMod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E5FA34-7EA0-9526-E193-DDC05E96A826}"/>
              </a:ext>
            </a:extLst>
          </p:cNvPr>
          <p:cNvSpPr/>
          <p:nvPr/>
        </p:nvSpPr>
        <p:spPr>
          <a:xfrm>
            <a:off x="6269560" y="4021092"/>
            <a:ext cx="4955321" cy="557198"/>
          </a:xfrm>
          <a:prstGeom prst="rect">
            <a:avLst/>
          </a:prstGeom>
          <a:solidFill>
            <a:srgbClr val="D44646"/>
          </a:solidFill>
          <a:ln>
            <a:solidFill>
              <a:srgbClr val="D4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DD7843-E5E8-61FE-8421-CE524A83AE19}"/>
              </a:ext>
            </a:extLst>
          </p:cNvPr>
          <p:cNvSpPr txBox="1"/>
          <p:nvPr/>
        </p:nvSpPr>
        <p:spPr>
          <a:xfrm>
            <a:off x="6771528" y="4051410"/>
            <a:ext cx="39519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Legislation and enforcement</a:t>
            </a: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57E4D1-C6E4-A09F-9B48-22B105349337}"/>
              </a:ext>
            </a:extLst>
          </p:cNvPr>
          <p:cNvSpPr txBox="1"/>
          <p:nvPr/>
        </p:nvSpPr>
        <p:spPr>
          <a:xfrm>
            <a:off x="6270225" y="4816405"/>
            <a:ext cx="47413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EU Cyber Resilience Act (CRA), adopted Dec 2024, full force 2027.</a:t>
            </a:r>
            <a:endParaRPr lang="en-US" dirty="0">
              <a:solidFill>
                <a:schemeClr val="bg2">
                  <a:lumMod val="25000"/>
                </a:schemeClr>
              </a:solidFill>
              <a:ea typeface="+mn-lt"/>
              <a:cs typeface="+mn-lt"/>
            </a:endParaRPr>
          </a:p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Mandates security-by-design at every lifecycle stage.</a:t>
            </a:r>
            <a:endParaRPr lang="en-US" dirty="0">
              <a:solidFill>
                <a:schemeClr val="bg2">
                  <a:lumMod val="25000"/>
                </a:schemeClr>
              </a:solidFill>
              <a:ea typeface="+mn-lt"/>
              <a:cs typeface="+mn-lt"/>
            </a:endParaRPr>
          </a:p>
          <a:p>
            <a:pPr marL="182880" indent="-182880">
              <a:buFont typeface="Arial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Radio Equipment Directive (RED) for wireless IoT devices.</a:t>
            </a:r>
            <a:endParaRPr lang="en-US" dirty="0">
              <a:solidFill>
                <a:schemeClr val="bg2">
                  <a:lumMod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C8D6D-3439-7287-C01B-9C97E0268F5E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61760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883D-B993-45C4-6447-995A86AE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69EE-54CB-A683-D75E-130C28139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Borderline technologies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Future: Multi-label classification + post analysis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r>
              <a:rPr lang="en-US" sz="2000" dirty="0"/>
              <a:t>Data source limitations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ea typeface="+mn-lt"/>
                <a:cs typeface="+mn-lt"/>
              </a:rPr>
              <a:t>Rely solely on CVE description + CPE metadata, which can be incomplete.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Future: </a:t>
            </a:r>
            <a:r>
              <a:rPr lang="en-US" sz="1800" dirty="0">
                <a:ea typeface="+mn-lt"/>
                <a:cs typeface="+mn-lt"/>
              </a:rPr>
              <a:t>merge security advisories &amp; vendor bulletins, or references for richer context</a:t>
            </a:r>
            <a:endParaRPr lang="en-US" sz="18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6A8A6-1C25-D993-B266-70DAEF7260AB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266978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FA48-8974-AC7A-50BC-694DD512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680B7-4A1B-D4AA-8FA3-2AAF44E26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248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lvl="1" indent="-285750"/>
            <a:r>
              <a:rPr lang="en-US" sz="2000" dirty="0">
                <a:ea typeface="+mn-lt"/>
                <a:cs typeface="+mn-lt"/>
              </a:rPr>
              <a:t>Distinguishing IoT vulnerabilities requires a unified architectural abstraction that covers all contributing components.</a:t>
            </a:r>
            <a:endParaRPr lang="en-US" sz="2000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Using LLMs and the four-layer IoT taxonomy, we could overcome the limitations of previous works (scalability, high false positives).</a:t>
            </a:r>
            <a:endParaRPr lang="en-US" sz="2000" dirty="0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15,066 IoT CVEs (8,391 new) that could be used for further research.</a:t>
            </a:r>
            <a:endParaRPr lang="en-US" dirty="0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IoT vs Non-IoT characterization: IoT = higher severity, lower attacker effort, memory-safety + growing web weaknesses</a:t>
            </a:r>
            <a:endParaRPr lang="en-US" sz="2000"/>
          </a:p>
          <a:p>
            <a:endParaRPr lang="en-US" sz="2000" dirty="0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D43E6-363E-8AF0-152E-B784292D93CE}"/>
              </a:ext>
            </a:extLst>
          </p:cNvPr>
          <p:cNvSpPr txBox="1"/>
          <p:nvPr/>
        </p:nvSpPr>
        <p:spPr>
          <a:xfrm>
            <a:off x="11566988" y="6429910"/>
            <a:ext cx="462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543167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D8177-8008-3846-33BE-035776DB0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803" y="2420611"/>
            <a:ext cx="10515600" cy="18148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>
                <a:solidFill>
                  <a:srgbClr val="BF2D00"/>
                </a:solidFill>
              </a:rPr>
              <a:t>Thanks for your attention!</a:t>
            </a:r>
          </a:p>
          <a:p>
            <a:pPr marL="0" indent="0" algn="ctr">
              <a:buNone/>
            </a:pPr>
            <a:r>
              <a:rPr lang="en-US" sz="4000">
                <a:solidFill>
                  <a:srgbClr val="BF2D00"/>
                </a:solidFill>
              </a:rPr>
              <a:t>Questions?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7F701F-899A-CE03-771B-88E4C18B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935" y="4333420"/>
            <a:ext cx="2223408" cy="22733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7C2091E-F605-6B1E-5CB8-E44A8CB53B72}"/>
              </a:ext>
            </a:extLst>
          </p:cNvPr>
          <p:cNvSpPr txBox="1"/>
          <p:nvPr/>
        </p:nvSpPr>
        <p:spPr>
          <a:xfrm>
            <a:off x="4801121" y="3955971"/>
            <a:ext cx="2375324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Find the code and dataset here!</a:t>
            </a:r>
          </a:p>
        </p:txBody>
      </p:sp>
    </p:spTree>
    <p:extLst>
      <p:ext uri="{BB962C8B-B14F-4D97-AF65-F5344CB8AC3E}">
        <p14:creationId xmlns:p14="http://schemas.microsoft.com/office/powerpoint/2010/main" val="1601827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SoK: Understanding the State of IoT-specific Vulnerabilities via CVE Characterization with LLIoT</vt:lpstr>
      <vt:lpstr>Motivation</vt:lpstr>
      <vt:lpstr>What prior work has done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Manual labeling outcomes</vt:lpstr>
      <vt:lpstr>PowerPoint Presentation</vt:lpstr>
      <vt:lpstr>PowerPoint Presentation</vt:lpstr>
      <vt:lpstr>Phase 2: Large scale classification</vt:lpstr>
      <vt:lpstr>PowerPoint Presentation</vt:lpstr>
      <vt:lpstr>PowerPoint Presentation</vt:lpstr>
      <vt:lpstr>PowerPoint Presentation</vt:lpstr>
      <vt:lpstr>PowerPoint Presentation</vt:lpstr>
      <vt:lpstr>Phase 3: IoT vs non-IoT characterization</vt:lpstr>
      <vt:lpstr>IoT CVE Temporal Trends</vt:lpstr>
      <vt:lpstr>Severity Analysis</vt:lpstr>
      <vt:lpstr>Severity Analysis</vt:lpstr>
      <vt:lpstr>PowerPoint Presentation</vt:lpstr>
      <vt:lpstr>PowerPoint Presentation</vt:lpstr>
      <vt:lpstr>Actionable Recommendations</vt:lpstr>
      <vt:lpstr>Limitations and Future Work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342</cp:revision>
  <dcterms:created xsi:type="dcterms:W3CDTF">2026-04-02T15:22:07Z</dcterms:created>
  <dcterms:modified xsi:type="dcterms:W3CDTF">2026-10-04T12:49:07Z</dcterms:modified>
</cp:coreProperties>
</file>